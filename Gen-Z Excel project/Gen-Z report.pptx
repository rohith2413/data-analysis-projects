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31C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31C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31C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31C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145" y="1502396"/>
            <a:ext cx="5273040" cy="360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31C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07983" y="2505543"/>
            <a:ext cx="5551805" cy="3065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5594" y="3513128"/>
            <a:ext cx="7926070" cy="46735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spc="-175">
                <a:latin typeface="Arial"/>
                <a:cs typeface="Arial"/>
              </a:rPr>
              <a:t>Career</a:t>
            </a:r>
            <a:r>
              <a:rPr dirty="0" sz="2900" spc="5">
                <a:latin typeface="Arial"/>
                <a:cs typeface="Arial"/>
              </a:rPr>
              <a:t> </a:t>
            </a:r>
            <a:r>
              <a:rPr dirty="0" sz="2900" spc="-235">
                <a:latin typeface="Arial"/>
                <a:cs typeface="Arial"/>
              </a:rPr>
              <a:t>PreFerences</a:t>
            </a:r>
            <a:r>
              <a:rPr dirty="0" sz="2900" spc="20">
                <a:latin typeface="Arial"/>
                <a:cs typeface="Arial"/>
              </a:rPr>
              <a:t> </a:t>
            </a:r>
            <a:r>
              <a:rPr dirty="0" sz="2900" spc="-155">
                <a:latin typeface="Arial"/>
                <a:cs typeface="Arial"/>
              </a:rPr>
              <a:t>&amp;</a:t>
            </a:r>
            <a:r>
              <a:rPr dirty="0" sz="2900" spc="-180">
                <a:latin typeface="Arial"/>
                <a:cs typeface="Arial"/>
              </a:rPr>
              <a:t> </a:t>
            </a:r>
            <a:r>
              <a:rPr dirty="0" sz="2900" spc="-160">
                <a:latin typeface="Arial"/>
                <a:cs typeface="Arial"/>
              </a:rPr>
              <a:t>Workplace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 spc="-70">
                <a:latin typeface="Arial"/>
                <a:cs typeface="Arial"/>
              </a:rPr>
              <a:t>Insights</a:t>
            </a:r>
            <a:r>
              <a:rPr dirty="0" sz="2900" spc="-75">
                <a:latin typeface="Arial"/>
                <a:cs typeface="Arial"/>
              </a:rPr>
              <a:t> </a:t>
            </a:r>
            <a:r>
              <a:rPr dirty="0" sz="2900" spc="-114">
                <a:latin typeface="Arial"/>
                <a:cs typeface="Arial"/>
              </a:rPr>
              <a:t>Dashboard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717467" y="6436497"/>
            <a:ext cx="12693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5DA0DB"/>
                </a:solidFill>
                <a:latin typeface="Courier New"/>
                <a:cs typeface="Courier New"/>
              </a:rPr>
              <a:t>ÆO</a:t>
            </a:r>
            <a:r>
              <a:rPr dirty="0" sz="1100" spc="165">
                <a:solidFill>
                  <a:srgbClr val="5DA0DB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4BA585"/>
                </a:solidFill>
                <a:latin typeface="Courier New"/>
                <a:cs typeface="Courier New"/>
              </a:rPr>
              <a:t>O</a:t>
            </a:r>
            <a:r>
              <a:rPr dirty="0" sz="1100" spc="-335">
                <a:solidFill>
                  <a:srgbClr val="4BA585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4BA585"/>
                </a:solidFill>
                <a:latin typeface="Courier New"/>
                <a:cs typeface="Courier New"/>
              </a:rPr>
              <a:t>O</a:t>
            </a:r>
            <a:r>
              <a:rPr dirty="0" sz="1100" spc="-340">
                <a:solidFill>
                  <a:srgbClr val="4BA585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4BA585"/>
                </a:solidFill>
                <a:latin typeface="Courier New"/>
                <a:cs typeface="Courier New"/>
              </a:rPr>
              <a:t>O</a:t>
            </a:r>
            <a:r>
              <a:rPr dirty="0" sz="1100" spc="-340">
                <a:solidFill>
                  <a:srgbClr val="4BA585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4BA585"/>
                </a:solidFill>
                <a:latin typeface="Courier New"/>
                <a:cs typeface="Courier New"/>
              </a:rPr>
              <a:t>O</a:t>
            </a:r>
            <a:r>
              <a:rPr dirty="0" sz="1100" spc="-335">
                <a:solidFill>
                  <a:srgbClr val="4BA585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4BA585"/>
                </a:solidFill>
                <a:latin typeface="Courier New"/>
                <a:cs typeface="Courier New"/>
              </a:rPr>
              <a:t>O</a:t>
            </a:r>
            <a:r>
              <a:rPr dirty="0" sz="1100" spc="-340">
                <a:solidFill>
                  <a:srgbClr val="4BA585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4BA585"/>
                </a:solidFill>
                <a:latin typeface="Courier New"/>
                <a:cs typeface="Courier New"/>
              </a:rPr>
              <a:t>O</a:t>
            </a:r>
            <a:r>
              <a:rPr dirty="0" sz="1100" spc="-335">
                <a:solidFill>
                  <a:srgbClr val="4BA585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4BA585"/>
                </a:solidFill>
                <a:latin typeface="Courier New"/>
                <a:cs typeface="Courier New"/>
              </a:rPr>
              <a:t>O</a:t>
            </a:r>
            <a:r>
              <a:rPr dirty="0" sz="1100" spc="-340">
                <a:solidFill>
                  <a:srgbClr val="4BA585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4BA585"/>
                </a:solidFill>
                <a:latin typeface="Courier New"/>
                <a:cs typeface="Courier New"/>
              </a:rPr>
              <a:t>O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3824" y="1632731"/>
            <a:ext cx="9644380" cy="46367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69215">
              <a:lnSpc>
                <a:spcPct val="114999"/>
              </a:lnSpc>
              <a:spcBef>
                <a:spcPts val="70"/>
              </a:spcBef>
            </a:pP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This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dashboard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provides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60">
                <a:solidFill>
                  <a:srgbClr val="131C3B"/>
                </a:solidFill>
                <a:latin typeface="Arial"/>
                <a:cs typeface="Arial"/>
              </a:rPr>
              <a:t>a</a:t>
            </a:r>
            <a:r>
              <a:rPr dirty="0" sz="1400" spc="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D"/>
                </a:solidFill>
                <a:latin typeface="Arial"/>
                <a:cs typeface="Arial"/>
              </a:rPr>
              <a:t>comprehensive</a:t>
            </a:r>
            <a:r>
              <a:rPr dirty="0" sz="1400" spc="7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51D3D"/>
                </a:solidFill>
                <a:latin typeface="Arial"/>
                <a:cs typeface="Arial"/>
              </a:rPr>
              <a:t>analysis</a:t>
            </a:r>
            <a:r>
              <a:rPr dirty="0" sz="1400" spc="35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D3B"/>
                </a:solidFill>
                <a:latin typeface="Arial"/>
                <a:cs typeface="Arial"/>
              </a:rPr>
              <a:t>of</a:t>
            </a:r>
            <a:r>
              <a:rPr dirty="0" sz="1400" spc="-50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1D3B"/>
                </a:solidFill>
                <a:latin typeface="Arial"/>
                <a:cs typeface="Arial"/>
              </a:rPr>
              <a:t>career</a:t>
            </a:r>
            <a:r>
              <a:rPr dirty="0" sz="1400" spc="-3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motivations,</a:t>
            </a:r>
            <a:r>
              <a:rPr dirty="0" sz="1400" spc="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workplace</a:t>
            </a:r>
            <a:r>
              <a:rPr dirty="0" sz="1400" spc="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D3B"/>
                </a:solidFill>
                <a:latin typeface="Arial"/>
                <a:cs typeface="Arial"/>
              </a:rPr>
              <a:t>preferences,</a:t>
            </a:r>
            <a:r>
              <a:rPr dirty="0" sz="1400" spc="-10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salary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expectations,</a:t>
            </a:r>
            <a:r>
              <a:rPr dirty="0" sz="1400" spc="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and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key </a:t>
            </a:r>
            <a:r>
              <a:rPr dirty="0" sz="1400" spc="-40">
                <a:solidFill>
                  <a:srgbClr val="131C3D"/>
                </a:solidFill>
                <a:latin typeface="Arial"/>
                <a:cs typeface="Arial"/>
              </a:rPr>
              <a:t>job-</a:t>
            </a:r>
            <a:r>
              <a:rPr dirty="0" sz="1400" spc="-10">
                <a:solidFill>
                  <a:srgbClr val="131C3D"/>
                </a:solidFill>
                <a:latin typeface="Arial"/>
                <a:cs typeface="Arial"/>
              </a:rPr>
              <a:t>related</a:t>
            </a:r>
            <a:r>
              <a:rPr dirty="0" sz="1400" spc="-65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factors among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survey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respondents.</a:t>
            </a:r>
            <a:r>
              <a:rPr dirty="0" sz="14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30">
                <a:solidFill>
                  <a:srgbClr val="131D3B"/>
                </a:solidFill>
                <a:latin typeface="Arial"/>
                <a:cs typeface="Arial"/>
              </a:rPr>
              <a:t>Use</a:t>
            </a:r>
            <a:r>
              <a:rPr dirty="0" sz="1400" spc="10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this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dashboard</a:t>
            </a:r>
            <a:r>
              <a:rPr dirty="0" sz="1400" spc="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to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explore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61F3D"/>
                </a:solidFill>
                <a:latin typeface="Arial"/>
                <a:cs typeface="Arial"/>
              </a:rPr>
              <a:t>what</a:t>
            </a:r>
            <a:r>
              <a:rPr dirty="0" sz="1400" spc="-45">
                <a:solidFill>
                  <a:srgbClr val="161F3D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influences</a:t>
            </a:r>
            <a:r>
              <a:rPr dirty="0" sz="1400" spc="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career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choices,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61F3D"/>
                </a:solidFill>
                <a:latin typeface="Arial"/>
                <a:cs typeface="Arial"/>
              </a:rPr>
              <a:t>distribution</a:t>
            </a:r>
            <a:r>
              <a:rPr dirty="0" sz="1400" spc="45">
                <a:solidFill>
                  <a:srgbClr val="161F3D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D"/>
                </a:solidFill>
                <a:latin typeface="Arial"/>
                <a:cs typeface="Arial"/>
              </a:rPr>
              <a:t>of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working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environments,</a:t>
            </a:r>
            <a:r>
              <a:rPr dirty="0" sz="14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gender-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based</a:t>
            </a:r>
            <a:r>
              <a:rPr dirty="0" sz="14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patterns,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salary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A"/>
                </a:solidFill>
                <a:latin typeface="Arial"/>
                <a:cs typeface="Arial"/>
              </a:rPr>
              <a:t>expectations,</a:t>
            </a:r>
            <a:r>
              <a:rPr dirty="0" sz="1400" spc="-5">
                <a:solidFill>
                  <a:srgbClr val="131C3A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and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most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1C3D"/>
                </a:solidFill>
                <a:latin typeface="Arial"/>
                <a:cs typeface="Arial"/>
              </a:rPr>
              <a:t>common</a:t>
            </a:r>
            <a:r>
              <a:rPr dirty="0" sz="1400" spc="2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motivators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and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frustrations</a:t>
            </a:r>
            <a:r>
              <a:rPr dirty="0" sz="1400" spc="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at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work. </a:t>
            </a:r>
            <a:r>
              <a:rPr dirty="0" sz="1400" spc="-95">
                <a:solidFill>
                  <a:srgbClr val="131C3A"/>
                </a:solidFill>
                <a:latin typeface="Arial"/>
                <a:cs typeface="Arial"/>
              </a:rPr>
              <a:t>The</a:t>
            </a:r>
            <a:r>
              <a:rPr dirty="0" sz="1400" spc="-25">
                <a:solidFill>
                  <a:srgbClr val="131C3A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visualizations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help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identify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trends,</a:t>
            </a:r>
            <a:r>
              <a:rPr dirty="0" sz="1400" spc="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dominant</a:t>
            </a:r>
            <a:r>
              <a:rPr dirty="0" sz="1400" spc="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preferences,</a:t>
            </a:r>
            <a:r>
              <a:rPr dirty="0" sz="1400" spc="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D3B"/>
                </a:solidFill>
                <a:latin typeface="Arial"/>
                <a:cs typeface="Arial"/>
              </a:rPr>
              <a:t>and</a:t>
            </a:r>
            <a:r>
              <a:rPr dirty="0" sz="1400" spc="-20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potential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131C3D"/>
                </a:solidFill>
                <a:latin typeface="Arial"/>
                <a:cs typeface="Arial"/>
              </a:rPr>
              <a:t>areas</a:t>
            </a:r>
            <a:r>
              <a:rPr dirty="0" sz="1400" spc="5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for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organizational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improvement.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400">
              <a:latin typeface="Arial"/>
              <a:cs typeface="Arial"/>
            </a:endParaRPr>
          </a:p>
          <a:p>
            <a:pPr marL="254635" indent="-156210">
              <a:lnSpc>
                <a:spcPct val="100000"/>
              </a:lnSpc>
              <a:buClr>
                <a:srgbClr val="131C3D"/>
              </a:buClr>
              <a:buChar char="•"/>
              <a:tabLst>
                <a:tab pos="254635" algn="l"/>
              </a:tabLst>
            </a:pP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Nearly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61C3B"/>
                </a:solidFill>
                <a:latin typeface="Arial"/>
                <a:cs typeface="Arial"/>
              </a:rPr>
              <a:t>half</a:t>
            </a:r>
            <a:r>
              <a:rPr dirty="0" sz="1400" spc="-95">
                <a:solidFill>
                  <a:srgbClr val="16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of</a:t>
            </a:r>
            <a:r>
              <a:rPr dirty="0" sz="1400" spc="-9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respondents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0">
                <a:solidFill>
                  <a:srgbClr val="131C3B"/>
                </a:solidFill>
                <a:latin typeface="Arial"/>
                <a:cs typeface="Arial"/>
              </a:rPr>
              <a:t>(49.7%)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work</a:t>
            </a:r>
            <a:r>
              <a:rPr dirty="0" sz="1400" spc="-4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in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55">
                <a:solidFill>
                  <a:srgbClr val="131C3D"/>
                </a:solidFill>
                <a:latin typeface="Arial"/>
                <a:cs typeface="Arial"/>
              </a:rPr>
              <a:t>a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hybrid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model,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making</a:t>
            </a:r>
            <a:r>
              <a:rPr dirty="0" sz="1400" spc="-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it</a:t>
            </a:r>
            <a:r>
              <a:rPr dirty="0" sz="1400" spc="-9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61C3B"/>
                </a:solidFill>
                <a:latin typeface="Arial"/>
                <a:cs typeface="Arial"/>
              </a:rPr>
              <a:t>the</a:t>
            </a:r>
            <a:r>
              <a:rPr dirty="0" sz="1400" spc="-65">
                <a:solidFill>
                  <a:srgbClr val="16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D"/>
                </a:solidFill>
                <a:latin typeface="Arial"/>
                <a:cs typeface="Arial"/>
              </a:rPr>
              <a:t>most</a:t>
            </a:r>
            <a:r>
              <a:rPr dirty="0" sz="1400" spc="-4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1C3D"/>
                </a:solidFill>
                <a:latin typeface="Arial"/>
                <a:cs typeface="Arial"/>
              </a:rPr>
              <a:t>common</a:t>
            </a:r>
            <a:r>
              <a:rPr dirty="0" sz="1400" spc="-15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61F3D"/>
                </a:solidFill>
                <a:latin typeface="Arial"/>
                <a:cs typeface="Arial"/>
              </a:rPr>
              <a:t>working</a:t>
            </a:r>
            <a:r>
              <a:rPr dirty="0" sz="1400" spc="-25">
                <a:solidFill>
                  <a:srgbClr val="161F3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A"/>
                </a:solidFill>
                <a:latin typeface="Arial"/>
                <a:cs typeface="Arial"/>
              </a:rPr>
              <a:t>arrangement.</a:t>
            </a:r>
            <a:endParaRPr sz="1400">
              <a:latin typeface="Arial"/>
              <a:cs typeface="Arial"/>
            </a:endParaRPr>
          </a:p>
          <a:p>
            <a:pPr marL="254000" indent="-155575">
              <a:lnSpc>
                <a:spcPct val="100000"/>
              </a:lnSpc>
              <a:spcBef>
                <a:spcPts val="565"/>
              </a:spcBef>
              <a:buChar char="•"/>
              <a:tabLst>
                <a:tab pos="254000" algn="l"/>
              </a:tabLst>
            </a:pP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Fully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remote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work</a:t>
            </a:r>
            <a:r>
              <a:rPr dirty="0" sz="1400" spc="-95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is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D3B"/>
                </a:solidFill>
                <a:latin typeface="Arial"/>
                <a:cs typeface="Arial"/>
              </a:rPr>
              <a:t>preferred</a:t>
            </a:r>
            <a:r>
              <a:rPr dirty="0" sz="1400" spc="1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by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131C3B"/>
                </a:solidFill>
                <a:latin typeface="Arial"/>
                <a:cs typeface="Arial"/>
              </a:rPr>
              <a:t>39.3%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of</a:t>
            </a:r>
            <a:r>
              <a:rPr dirty="0" sz="1400" spc="-5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respondents,</a:t>
            </a:r>
            <a:r>
              <a:rPr dirty="0" sz="14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61C3B"/>
                </a:solidFill>
                <a:latin typeface="Arial"/>
                <a:cs typeface="Arial"/>
              </a:rPr>
              <a:t>significantly</a:t>
            </a:r>
            <a:r>
              <a:rPr dirty="0" sz="1400" spc="25">
                <a:solidFill>
                  <a:srgbClr val="16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more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than</a:t>
            </a:r>
            <a:r>
              <a:rPr dirty="0" sz="1400" spc="-8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D"/>
                </a:solidFill>
                <a:latin typeface="Arial"/>
                <a:cs typeface="Arial"/>
              </a:rPr>
              <a:t>the</a:t>
            </a:r>
            <a:r>
              <a:rPr dirty="0" sz="1400" spc="-85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140">
                <a:solidFill>
                  <a:srgbClr val="131C3B"/>
                </a:solidFill>
                <a:latin typeface="Arial"/>
                <a:cs typeface="Arial"/>
              </a:rPr>
              <a:t>11%</a:t>
            </a:r>
            <a:r>
              <a:rPr dirty="0" sz="1400" spc="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who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61F3D"/>
                </a:solidFill>
                <a:latin typeface="Arial"/>
                <a:cs typeface="Arial"/>
              </a:rPr>
              <a:t>work</a:t>
            </a:r>
            <a:r>
              <a:rPr dirty="0" sz="1400" spc="5">
                <a:solidFill>
                  <a:srgbClr val="161F3D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exclusively</a:t>
            </a:r>
            <a:r>
              <a:rPr dirty="0" sz="1400" spc="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in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an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51D3D"/>
                </a:solidFill>
                <a:latin typeface="Arial"/>
                <a:cs typeface="Arial"/>
              </a:rPr>
              <a:t>office.</a:t>
            </a:r>
            <a:endParaRPr sz="1400">
              <a:latin typeface="Arial"/>
              <a:cs typeface="Arial"/>
            </a:endParaRPr>
          </a:p>
          <a:p>
            <a:pPr marL="252729" marR="255904" indent="-154940">
              <a:lnSpc>
                <a:spcPct val="113300"/>
              </a:lnSpc>
              <a:spcBef>
                <a:spcPts val="380"/>
              </a:spcBef>
              <a:buChar char="•"/>
              <a:tabLst>
                <a:tab pos="256540" algn="l"/>
              </a:tabLst>
            </a:pPr>
            <a:r>
              <a:rPr dirty="0" sz="1400" spc="-114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"Political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D"/>
                </a:solidFill>
                <a:latin typeface="Arial"/>
                <a:cs typeface="Arial"/>
              </a:rPr>
              <a:t>Environment"</a:t>
            </a:r>
            <a:r>
              <a:rPr dirty="0" sz="1400" spc="-6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C2644"/>
                </a:solidFill>
                <a:latin typeface="Arial"/>
                <a:cs typeface="Arial"/>
              </a:rPr>
              <a:t>is</a:t>
            </a:r>
            <a:r>
              <a:rPr dirty="0" sz="1400" spc="-60">
                <a:solidFill>
                  <a:srgbClr val="1C264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 spc="-1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dominant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frustration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factor,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reported</a:t>
            </a:r>
            <a:r>
              <a:rPr dirty="0" sz="1400" spc="-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90">
                <a:solidFill>
                  <a:srgbClr val="131C3B"/>
                </a:solidFill>
                <a:latin typeface="Arial"/>
                <a:cs typeface="Arial"/>
              </a:rPr>
              <a:t>by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5">
                <a:solidFill>
                  <a:srgbClr val="131C3B"/>
                </a:solidFill>
                <a:latin typeface="Arial"/>
                <a:cs typeface="Arial"/>
              </a:rPr>
              <a:t>96.4%</a:t>
            </a:r>
            <a:r>
              <a:rPr dirty="0" sz="1400" spc="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of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respondents,</a:t>
            </a:r>
            <a:r>
              <a:rPr dirty="0" sz="14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with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all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other</a:t>
            </a:r>
            <a:r>
              <a:rPr dirty="0" sz="1400" spc="-1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frustrations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combined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accounting</a:t>
            </a:r>
            <a:r>
              <a:rPr dirty="0" sz="1400" spc="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for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85">
                <a:solidFill>
                  <a:srgbClr val="131C3B"/>
                </a:solidFill>
                <a:latin typeface="Arial"/>
                <a:cs typeface="Arial"/>
              </a:rPr>
              <a:t>less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than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4%.</a:t>
            </a:r>
            <a:endParaRPr sz="1400">
              <a:latin typeface="Arial"/>
              <a:cs typeface="Arial"/>
            </a:endParaRPr>
          </a:p>
          <a:p>
            <a:pPr marL="249554" marR="5080" indent="-151765">
              <a:lnSpc>
                <a:spcPct val="115900"/>
              </a:lnSpc>
              <a:spcBef>
                <a:spcPts val="295"/>
              </a:spcBef>
              <a:buChar char="•"/>
              <a:tabLst>
                <a:tab pos="249554" algn="l"/>
                <a:tab pos="253365" algn="l"/>
              </a:tabLst>
            </a:pP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Respondents</a:t>
            </a:r>
            <a:r>
              <a:rPr dirty="0" sz="1400" spc="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from</a:t>
            </a:r>
            <a:r>
              <a:rPr dirty="0" sz="1400" spc="-9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India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overwhelmingly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dominate</a:t>
            </a:r>
            <a:r>
              <a:rPr dirty="0" sz="1400" spc="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study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51D3D"/>
                </a:solidFill>
                <a:latin typeface="Arial"/>
                <a:cs typeface="Arial"/>
              </a:rPr>
              <a:t>abroad</a:t>
            </a:r>
            <a:r>
              <a:rPr dirty="0" sz="1400" spc="-15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responses,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with</a:t>
            </a:r>
            <a:r>
              <a:rPr dirty="0" sz="1400" spc="-9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1,540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D"/>
                </a:solidFill>
                <a:latin typeface="Arial"/>
                <a:cs typeface="Arial"/>
              </a:rPr>
              <a:t>indicating</a:t>
            </a:r>
            <a:r>
              <a:rPr dirty="0" sz="1400" spc="3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114">
                <a:solidFill>
                  <a:srgbClr val="131C3B"/>
                </a:solidFill>
                <a:latin typeface="Arial"/>
                <a:cs typeface="Arial"/>
              </a:rPr>
              <a:t>"Yes,"</a:t>
            </a:r>
            <a:r>
              <a:rPr dirty="0" sz="1400" spc="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232A49"/>
                </a:solidFill>
                <a:latin typeface="Arial"/>
                <a:cs typeface="Arial"/>
              </a:rPr>
              <a:t>769</a:t>
            </a:r>
            <a:r>
              <a:rPr dirty="0" sz="1400" spc="-10">
                <a:solidFill>
                  <a:srgbClr val="232A49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"sponsored,"</a:t>
            </a:r>
            <a:r>
              <a:rPr dirty="0" sz="1400" spc="7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and 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1,170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76D80"/>
                </a:solidFill>
                <a:latin typeface="Arial"/>
                <a:cs typeface="Arial"/>
              </a:rPr>
              <a:t>"No,"</a:t>
            </a:r>
            <a:r>
              <a:rPr dirty="0" sz="1400" spc="-60">
                <a:solidFill>
                  <a:srgbClr val="676D8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D3B"/>
                </a:solidFill>
                <a:latin typeface="Arial"/>
                <a:cs typeface="Arial"/>
              </a:rPr>
              <a:t>while</a:t>
            </a:r>
            <a:r>
              <a:rPr dirty="0" sz="1400" spc="-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other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countries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have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negligible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participation.</a:t>
            </a:r>
            <a:endParaRPr sz="1400">
              <a:latin typeface="Arial"/>
              <a:cs typeface="Arial"/>
            </a:endParaRPr>
          </a:p>
          <a:p>
            <a:pPr marL="252095" marR="5715" indent="-154305">
              <a:lnSpc>
                <a:spcPct val="115900"/>
              </a:lnSpc>
              <a:spcBef>
                <a:spcPts val="295"/>
              </a:spcBef>
              <a:buChar char="•"/>
              <a:tabLst>
                <a:tab pos="257175" algn="l"/>
              </a:tabLst>
            </a:pPr>
            <a:r>
              <a:rPr dirty="0" sz="1400" spc="-100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largest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salary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61C3B"/>
                </a:solidFill>
                <a:latin typeface="Arial"/>
                <a:cs typeface="Arial"/>
              </a:rPr>
              <a:t>band</a:t>
            </a:r>
            <a:r>
              <a:rPr dirty="0" sz="1400" spc="-5">
                <a:solidFill>
                  <a:srgbClr val="16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D3B"/>
                </a:solidFill>
                <a:latin typeface="Arial"/>
                <a:cs typeface="Arial"/>
              </a:rPr>
              <a:t>group</a:t>
            </a:r>
            <a:r>
              <a:rPr dirty="0" sz="1400" spc="-70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125">
                <a:solidFill>
                  <a:srgbClr val="131C3B"/>
                </a:solidFill>
                <a:latin typeface="Arial"/>
                <a:cs typeface="Arial"/>
              </a:rPr>
              <a:t>(5B9</a:t>
            </a:r>
            <a:r>
              <a:rPr dirty="0" sz="1400" spc="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individuals)</a:t>
            </a:r>
            <a:r>
              <a:rPr dirty="0" sz="1400" spc="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131C3A"/>
                </a:solidFill>
                <a:latin typeface="Arial"/>
                <a:cs typeface="Arial"/>
              </a:rPr>
              <a:t>moves</a:t>
            </a:r>
            <a:r>
              <a:rPr dirty="0" sz="1400" spc="-25">
                <a:solidFill>
                  <a:srgbClr val="131C3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from</a:t>
            </a:r>
            <a:r>
              <a:rPr dirty="0" sz="1400" spc="-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early-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career</a:t>
            </a:r>
            <a:r>
              <a:rPr dirty="0" sz="1400" spc="9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salaries</a:t>
            </a:r>
            <a:r>
              <a:rPr dirty="0" sz="14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above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131C3B"/>
                </a:solidFill>
                <a:latin typeface="Arial"/>
                <a:cs typeface="Arial"/>
              </a:rPr>
              <a:t>50k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to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mid-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career</a:t>
            </a:r>
            <a:r>
              <a:rPr dirty="0" sz="1400" spc="7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salaries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above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151k,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indicating</a:t>
            </a:r>
            <a:r>
              <a:rPr dirty="0" sz="1400" spc="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strong </a:t>
            </a:r>
            <a:r>
              <a:rPr dirty="0" sz="1400" spc="-25">
                <a:solidFill>
                  <a:srgbClr val="131D3B"/>
                </a:solidFill>
                <a:latin typeface="Arial"/>
                <a:cs typeface="Arial"/>
              </a:rPr>
              <a:t>upward</a:t>
            </a:r>
            <a:r>
              <a:rPr dirty="0" sz="1400" spc="-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mobility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for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D3B"/>
                </a:solidFill>
                <a:latin typeface="Arial"/>
                <a:cs typeface="Arial"/>
              </a:rPr>
              <a:t>higher</a:t>
            </a:r>
            <a:r>
              <a:rPr dirty="0" sz="1400" spc="-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starters.</a:t>
            </a:r>
            <a:endParaRPr sz="1400">
              <a:latin typeface="Arial"/>
              <a:cs typeface="Arial"/>
            </a:endParaRPr>
          </a:p>
          <a:p>
            <a:pPr marL="254635" marR="172720" indent="-156210">
              <a:lnSpc>
                <a:spcPct val="115900"/>
              </a:lnSpc>
              <a:spcBef>
                <a:spcPts val="300"/>
              </a:spcBef>
              <a:buClr>
                <a:srgbClr val="151D3D"/>
              </a:buClr>
              <a:buChar char="•"/>
              <a:tabLst>
                <a:tab pos="258445" algn="l"/>
              </a:tabLst>
            </a:pPr>
            <a:r>
              <a:rPr dirty="0" sz="1400" spc="-70">
                <a:solidFill>
                  <a:srgbClr val="131C3D"/>
                </a:solidFill>
                <a:latin typeface="Arial"/>
                <a:cs typeface="Arial"/>
              </a:rPr>
              <a:t>Early-</a:t>
            </a:r>
            <a:r>
              <a:rPr dirty="0" sz="1400" spc="-45">
                <a:solidFill>
                  <a:srgbClr val="131C3D"/>
                </a:solidFill>
                <a:latin typeface="Arial"/>
                <a:cs typeface="Arial"/>
              </a:rPr>
              <a:t>career</a:t>
            </a:r>
            <a:r>
              <a:rPr dirty="0" sz="1400" spc="5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mid-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tier</a:t>
            </a:r>
            <a:r>
              <a:rPr dirty="0" sz="1400" spc="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61C3B"/>
                </a:solidFill>
                <a:latin typeface="Arial"/>
                <a:cs typeface="Arial"/>
              </a:rPr>
              <a:t>salaries</a:t>
            </a:r>
            <a:r>
              <a:rPr dirty="0" sz="1400" spc="-35">
                <a:solidFill>
                  <a:srgbClr val="161C3B"/>
                </a:solidFill>
                <a:latin typeface="Arial"/>
                <a:cs typeface="Arial"/>
              </a:rPr>
              <a:t> </a:t>
            </a:r>
            <a:r>
              <a:rPr dirty="0" sz="1400" spc="-195">
                <a:solidFill>
                  <a:srgbClr val="131C3B"/>
                </a:solidFill>
                <a:latin typeface="Arial"/>
                <a:cs typeface="Arial"/>
              </a:rPr>
              <a:t>(31—</a:t>
            </a:r>
            <a:r>
              <a:rPr dirty="0" sz="1400" spc="-125">
                <a:solidFill>
                  <a:srgbClr val="131C3B"/>
                </a:solidFill>
                <a:latin typeface="Arial"/>
                <a:cs typeface="Arial"/>
              </a:rPr>
              <a:t>40k)</a:t>
            </a:r>
            <a:r>
              <a:rPr dirty="0" sz="1400" spc="8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most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frequently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progress</a:t>
            </a:r>
            <a:r>
              <a:rPr dirty="0" sz="1400" spc="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to</a:t>
            </a:r>
            <a:r>
              <a:rPr dirty="0" sz="1400" spc="-9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mid-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career</a:t>
            </a:r>
            <a:r>
              <a:rPr dirty="0" sz="1400" spc="10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salaries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in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25">
                <a:solidFill>
                  <a:srgbClr val="131C3B"/>
                </a:solidFill>
                <a:latin typeface="Arial"/>
                <a:cs typeface="Arial"/>
              </a:rPr>
              <a:t>71—</a:t>
            </a:r>
            <a:r>
              <a:rPr dirty="0" sz="1400" spc="-155">
                <a:solidFill>
                  <a:srgbClr val="131C3B"/>
                </a:solidFill>
                <a:latin typeface="Arial"/>
                <a:cs typeface="Arial"/>
              </a:rPr>
              <a:t>90k</a:t>
            </a:r>
            <a:r>
              <a:rPr dirty="0" sz="1400" spc="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range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131C3B"/>
                </a:solidFill>
                <a:latin typeface="Arial"/>
                <a:cs typeface="Arial"/>
              </a:rPr>
              <a:t>(200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 individuals),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showing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steady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salary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growth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in</a:t>
            </a:r>
            <a:r>
              <a:rPr dirty="0" sz="1400" spc="-1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A"/>
                </a:solidFill>
                <a:latin typeface="Arial"/>
                <a:cs typeface="Arial"/>
              </a:rPr>
              <a:t>this</a:t>
            </a:r>
            <a:r>
              <a:rPr dirty="0" sz="1400" spc="-95">
                <a:solidFill>
                  <a:srgbClr val="131C3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band.</a:t>
            </a:r>
            <a:endParaRPr sz="1400">
              <a:latin typeface="Arial"/>
              <a:cs typeface="Arial"/>
            </a:endParaRPr>
          </a:p>
          <a:p>
            <a:pPr marL="254000" marR="107950" indent="-156210">
              <a:lnSpc>
                <a:spcPct val="115900"/>
              </a:lnSpc>
              <a:spcBef>
                <a:spcPts val="295"/>
              </a:spcBef>
              <a:buChar char="•"/>
              <a:tabLst>
                <a:tab pos="257175" algn="l"/>
              </a:tabLst>
            </a:pP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Early-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career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salaries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in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35">
                <a:solidFill>
                  <a:srgbClr val="131C3B"/>
                </a:solidFill>
                <a:latin typeface="Arial"/>
                <a:cs typeface="Arial"/>
              </a:rPr>
              <a:t>41—</a:t>
            </a:r>
            <a:r>
              <a:rPr dirty="0" sz="1400" spc="-165">
                <a:solidFill>
                  <a:srgbClr val="131C3B"/>
                </a:solidFill>
                <a:latin typeface="Arial"/>
                <a:cs typeface="Arial"/>
              </a:rPr>
              <a:t>50k</a:t>
            </a:r>
            <a:r>
              <a:rPr dirty="0" sz="1400" spc="7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range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51D3D"/>
                </a:solidFill>
                <a:latin typeface="Arial"/>
                <a:cs typeface="Arial"/>
              </a:rPr>
              <a:t>split</a:t>
            </a:r>
            <a:r>
              <a:rPr dirty="0" sz="1400" spc="-15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into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two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1D3B"/>
                </a:solidFill>
                <a:latin typeface="Arial"/>
                <a:cs typeface="Arial"/>
              </a:rPr>
              <a:t>mid-</a:t>
            </a:r>
            <a:r>
              <a:rPr dirty="0" sz="1400" spc="-20">
                <a:solidFill>
                  <a:srgbClr val="131D3B"/>
                </a:solidFill>
                <a:latin typeface="Arial"/>
                <a:cs typeface="Arial"/>
              </a:rPr>
              <a:t>career</a:t>
            </a:r>
            <a:r>
              <a:rPr dirty="0" sz="1400" spc="10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salary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bands: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15">
                <a:solidFill>
                  <a:srgbClr val="131C3B"/>
                </a:solidFill>
                <a:latin typeface="Arial"/>
                <a:cs typeface="Arial"/>
              </a:rPr>
              <a:t>91—</a:t>
            </a:r>
            <a:r>
              <a:rPr dirty="0" sz="1400" spc="-160">
                <a:solidFill>
                  <a:srgbClr val="131C3B"/>
                </a:solidFill>
                <a:latin typeface="Arial"/>
                <a:cs typeface="Arial"/>
              </a:rPr>
              <a:t>110k</a:t>
            </a:r>
            <a:r>
              <a:rPr dirty="0" sz="1400" spc="5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(195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individuals)</a:t>
            </a:r>
            <a:r>
              <a:rPr dirty="0" sz="1400" spc="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and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85">
                <a:solidFill>
                  <a:srgbClr val="131C3B"/>
                </a:solidFill>
                <a:latin typeface="Arial"/>
                <a:cs typeface="Arial"/>
              </a:rPr>
              <a:t>111—</a:t>
            </a:r>
            <a:r>
              <a:rPr dirty="0" sz="1400" spc="-140">
                <a:solidFill>
                  <a:srgbClr val="131C3B"/>
                </a:solidFill>
                <a:latin typeface="Arial"/>
                <a:cs typeface="Arial"/>
              </a:rPr>
              <a:t>130k</a:t>
            </a:r>
            <a:r>
              <a:rPr dirty="0" sz="1400" spc="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61C3B"/>
                </a:solidFill>
                <a:latin typeface="Arial"/>
                <a:cs typeface="Arial"/>
              </a:rPr>
              <a:t>(145 </a:t>
            </a:r>
            <a:r>
              <a:rPr dirty="0" sz="1400" spc="-20">
                <a:solidFill>
                  <a:srgbClr val="161C3B"/>
                </a:solidFill>
                <a:latin typeface="Arial"/>
                <a:cs typeface="Arial"/>
              </a:rPr>
              <a:t>	</a:t>
            </a:r>
            <a:r>
              <a:rPr dirty="0" sz="1400" spc="-30">
                <a:solidFill>
                  <a:srgbClr val="131C3A"/>
                </a:solidFill>
                <a:latin typeface="Arial"/>
                <a:cs typeface="Arial"/>
              </a:rPr>
              <a:t>individuals),</a:t>
            </a:r>
            <a:r>
              <a:rPr dirty="0" sz="1400" spc="-45">
                <a:solidFill>
                  <a:srgbClr val="131C3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reflecting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2D3452"/>
                </a:solidFill>
                <a:latin typeface="Arial"/>
                <a:cs typeface="Arial"/>
              </a:rPr>
              <a:t>varied</a:t>
            </a:r>
            <a:r>
              <a:rPr dirty="0" sz="1400" spc="-15">
                <a:solidFill>
                  <a:srgbClr val="2D3452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1D3B"/>
                </a:solidFill>
                <a:latin typeface="Arial"/>
                <a:cs typeface="Arial"/>
              </a:rPr>
              <a:t>career</a:t>
            </a:r>
            <a:r>
              <a:rPr dirty="0" sz="1400" spc="-4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progression</a:t>
            </a:r>
            <a:r>
              <a:rPr dirty="0" sz="1400" spc="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paths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61C3D"/>
                </a:solidFill>
                <a:latin typeface="Arial"/>
                <a:cs typeface="Arial"/>
              </a:rPr>
              <a:t>within</a:t>
            </a:r>
            <a:r>
              <a:rPr dirty="0" sz="1400" spc="-75">
                <a:solidFill>
                  <a:srgbClr val="161C3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the</a:t>
            </a:r>
            <a:r>
              <a:rPr dirty="0" sz="1400" spc="-55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same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D"/>
                </a:solidFill>
                <a:latin typeface="Arial"/>
                <a:cs typeface="Arial"/>
              </a:rPr>
              <a:t>starting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D3B"/>
                </a:solidFill>
                <a:latin typeface="Arial"/>
                <a:cs typeface="Arial"/>
              </a:rPr>
              <a:t>salary</a:t>
            </a:r>
            <a:r>
              <a:rPr dirty="0" sz="1400" spc="-1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range.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3057" y="3329299"/>
            <a:ext cx="747353" cy="46776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05303" y="3548094"/>
            <a:ext cx="1287145" cy="78486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dirty="0" sz="1400" spc="-55">
                <a:solidFill>
                  <a:srgbClr val="369070"/>
                </a:solidFill>
                <a:latin typeface="Trebuchet MS"/>
                <a:cs typeface="Trebuchet MS"/>
              </a:rPr>
              <a:t>Total</a:t>
            </a:r>
            <a:r>
              <a:rPr dirty="0" sz="1400" spc="-15">
                <a:solidFill>
                  <a:srgbClr val="36907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69070"/>
                </a:solidFill>
                <a:latin typeface="Trebuchet MS"/>
                <a:cs typeface="Trebuchet MS"/>
              </a:rPr>
              <a:t>Responses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2800" spc="-20">
                <a:solidFill>
                  <a:srgbClr val="131C3B"/>
                </a:solidFill>
                <a:latin typeface="Trebuchet MS"/>
                <a:cs typeface="Trebuchet MS"/>
              </a:rPr>
              <a:t>3595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09291" y="3893244"/>
            <a:ext cx="819150" cy="436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00" spc="-75">
                <a:solidFill>
                  <a:srgbClr val="131C3B"/>
                </a:solidFill>
                <a:latin typeface="Trebuchet MS"/>
                <a:cs typeface="Trebuchet MS"/>
              </a:rPr>
              <a:t>40.28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17987" y="3549439"/>
            <a:ext cx="1666239" cy="78041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1400">
                <a:solidFill>
                  <a:srgbClr val="369070"/>
                </a:solidFill>
                <a:latin typeface="Trebuchet MS"/>
                <a:cs typeface="Trebuchet MS"/>
              </a:rPr>
              <a:t>Remote</a:t>
            </a:r>
            <a:r>
              <a:rPr dirty="0" sz="1400" spc="80">
                <a:solidFill>
                  <a:srgbClr val="369070"/>
                </a:solidFill>
                <a:latin typeface="Trebuchet MS"/>
                <a:cs typeface="Trebuchet MS"/>
              </a:rPr>
              <a:t> </a:t>
            </a:r>
            <a:r>
              <a:rPr dirty="0" sz="1400" spc="-35">
                <a:solidFill>
                  <a:srgbClr val="369070"/>
                </a:solidFill>
                <a:latin typeface="Trebuchet MS"/>
                <a:cs typeface="Trebuchet MS"/>
              </a:rPr>
              <a:t>Preference</a:t>
            </a:r>
            <a:r>
              <a:rPr dirty="0" sz="1400" spc="-280">
                <a:solidFill>
                  <a:srgbClr val="369070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369070"/>
                </a:solidFill>
                <a:latin typeface="Trebuchet MS"/>
                <a:cs typeface="Trebuchet MS"/>
              </a:rPr>
              <a:t>%</a:t>
            </a:r>
            <a:endParaRPr sz="1400">
              <a:latin typeface="Trebuchet MS"/>
              <a:cs typeface="Trebuchet MS"/>
            </a:endParaRPr>
          </a:p>
          <a:p>
            <a:pPr algn="ctr" marL="57785">
              <a:lnSpc>
                <a:spcPct val="100000"/>
              </a:lnSpc>
              <a:spcBef>
                <a:spcPts val="605"/>
              </a:spcBef>
            </a:pPr>
            <a:r>
              <a:rPr dirty="0" sz="2800" spc="-10">
                <a:solidFill>
                  <a:srgbClr val="131C3B"/>
                </a:solidFill>
                <a:latin typeface="Trebuchet MS"/>
                <a:cs typeface="Trebuchet MS"/>
              </a:rPr>
              <a:t>39.33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617328" y="3544714"/>
            <a:ext cx="1005840" cy="78168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1350">
                <a:solidFill>
                  <a:srgbClr val="369070"/>
                </a:solidFill>
                <a:latin typeface="Trebuchet MS"/>
                <a:cs typeface="Trebuchet MS"/>
              </a:rPr>
              <a:t>Layoff</a:t>
            </a:r>
            <a:r>
              <a:rPr dirty="0" sz="1350" spc="65">
                <a:solidFill>
                  <a:srgbClr val="369070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69070"/>
                </a:solidFill>
                <a:latin typeface="Trebuchet MS"/>
                <a:cs typeface="Trebuchet MS"/>
              </a:rPr>
              <a:t>Risk</a:t>
            </a:r>
            <a:r>
              <a:rPr dirty="0" sz="1350" spc="-250">
                <a:solidFill>
                  <a:srgbClr val="369070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369070"/>
                </a:solidFill>
                <a:latin typeface="Trebuchet MS"/>
                <a:cs typeface="Trebuchet MS"/>
              </a:rPr>
              <a:t>%</a:t>
            </a:r>
            <a:endParaRPr sz="1350">
              <a:latin typeface="Trebuchet MS"/>
              <a:cs typeface="Trebuchet MS"/>
            </a:endParaRPr>
          </a:p>
          <a:p>
            <a:pPr algn="ctr" marL="59690">
              <a:lnSpc>
                <a:spcPct val="100000"/>
              </a:lnSpc>
              <a:spcBef>
                <a:spcPts val="765"/>
              </a:spcBef>
            </a:pPr>
            <a:r>
              <a:rPr dirty="0" sz="2650" spc="-10">
                <a:solidFill>
                  <a:srgbClr val="131C3B"/>
                </a:solidFill>
                <a:latin typeface="Trebuchet MS"/>
                <a:cs typeface="Trebuchet MS"/>
              </a:rPr>
              <a:t>79.42</a:t>
            </a:r>
            <a:endParaRPr sz="2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8266" y="2555697"/>
            <a:ext cx="4299071" cy="287500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036512" y="2511562"/>
            <a:ext cx="181610" cy="6604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spc="-355">
                <a:solidFill>
                  <a:srgbClr val="999999"/>
                </a:solidFill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763172" y="5613415"/>
            <a:ext cx="532130" cy="500380"/>
            <a:chOff x="5763172" y="5613415"/>
            <a:chExt cx="532130" cy="50038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172" y="5801499"/>
              <a:ext cx="317056" cy="31168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9481" y="5613415"/>
              <a:ext cx="225701" cy="188084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7224857" y="5586545"/>
            <a:ext cx="500380" cy="478790"/>
            <a:chOff x="7224857" y="5586545"/>
            <a:chExt cx="500380" cy="47879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3689" y="5586545"/>
              <a:ext cx="300935" cy="27406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24857" y="5833743"/>
              <a:ext cx="252570" cy="231075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7939577" y="5581172"/>
            <a:ext cx="1929764" cy="478790"/>
            <a:chOff x="7939577" y="5581172"/>
            <a:chExt cx="1929764" cy="478790"/>
          </a:xfrm>
        </p:grpSpPr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9577" y="5581172"/>
              <a:ext cx="1735750" cy="47827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91449" y="5581172"/>
              <a:ext cx="177336" cy="171963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72519" y="5586545"/>
            <a:ext cx="537383" cy="521263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64126" y="1480414"/>
            <a:ext cx="4033520" cy="101282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100" spc="-130">
                <a:solidFill>
                  <a:srgbClr val="131C3B"/>
                </a:solidFill>
                <a:latin typeface="Trebuchet MS"/>
                <a:cs typeface="Trebuchet MS"/>
              </a:rPr>
              <a:t>LayoFF</a:t>
            </a:r>
            <a:r>
              <a:rPr dirty="0" sz="2100" spc="-140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131C3B"/>
                </a:solidFill>
                <a:latin typeface="Trebuchet MS"/>
                <a:cs typeface="Trebuchet MS"/>
              </a:rPr>
              <a:t>Risk</a:t>
            </a:r>
            <a:r>
              <a:rPr dirty="0" sz="2100" spc="-10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2100" spc="-75">
                <a:solidFill>
                  <a:srgbClr val="131C3B"/>
                </a:solidFill>
                <a:latin typeface="Trebuchet MS"/>
                <a:cs typeface="Trebuchet MS"/>
              </a:rPr>
              <a:t>and</a:t>
            </a:r>
            <a:r>
              <a:rPr dirty="0" sz="2100" spc="-14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131C3B"/>
                </a:solidFill>
                <a:latin typeface="Trebuchet MS"/>
                <a:cs typeface="Trebuchet MS"/>
              </a:rPr>
              <a:t>NO-</a:t>
            </a:r>
            <a:r>
              <a:rPr dirty="0" sz="2100">
                <a:solidFill>
                  <a:srgbClr val="131C3B"/>
                </a:solidFill>
                <a:latin typeface="Trebuchet MS"/>
                <a:cs typeface="Trebuchet MS"/>
              </a:rPr>
              <a:t>REMOTE</a:t>
            </a:r>
            <a:r>
              <a:rPr dirty="0" sz="2100" spc="40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131C3B"/>
                </a:solidFill>
                <a:latin typeface="Trebuchet MS"/>
                <a:cs typeface="Trebuchet MS"/>
              </a:rPr>
              <a:t>Policy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2150" spc="-10">
                <a:solidFill>
                  <a:srgbClr val="131C3B"/>
                </a:solidFill>
                <a:latin typeface="Trebuchet MS"/>
                <a:cs typeface="Trebuchet MS"/>
              </a:rPr>
              <a:t>Distribution</a:t>
            </a:r>
            <a:endParaRPr sz="2150">
              <a:latin typeface="Trebuchet MS"/>
              <a:cs typeface="Trebuchet MS"/>
            </a:endParaRPr>
          </a:p>
          <a:p>
            <a:pPr marL="172720" indent="-154305">
              <a:lnSpc>
                <a:spcPct val="100000"/>
              </a:lnSpc>
              <a:spcBef>
                <a:spcPts val="925"/>
              </a:spcBef>
              <a:buClr>
                <a:srgbClr val="52C397"/>
              </a:buClr>
              <a:buFont typeface="Arial"/>
              <a:buChar char="■"/>
              <a:tabLst>
                <a:tab pos="172720" algn="l"/>
              </a:tabLst>
            </a:pPr>
            <a:r>
              <a:rPr dirty="0" sz="950">
                <a:solidFill>
                  <a:srgbClr val="1C2644"/>
                </a:solidFill>
                <a:latin typeface="Trebuchet MS"/>
                <a:cs typeface="Trebuchet MS"/>
              </a:rPr>
              <a:t>No</a:t>
            </a:r>
            <a:r>
              <a:rPr dirty="0" sz="950" spc="145">
                <a:solidFill>
                  <a:srgbClr val="1C2644"/>
                </a:solidFill>
                <a:latin typeface="Trebuchet MS"/>
                <a:cs typeface="Trebuchet MS"/>
              </a:rPr>
              <a:t>  </a:t>
            </a:r>
            <a:r>
              <a:rPr dirty="0" sz="950">
                <a:solidFill>
                  <a:srgbClr val="54E4FF"/>
                </a:solidFill>
                <a:latin typeface="Arial"/>
                <a:cs typeface="Arial"/>
              </a:rPr>
              <a:t>■</a:t>
            </a:r>
            <a:r>
              <a:rPr dirty="0" sz="950" spc="395">
                <a:solidFill>
                  <a:srgbClr val="54E4FF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C3B"/>
                </a:solidFill>
                <a:latin typeface="Trebuchet MS"/>
                <a:cs typeface="Trebuchet MS"/>
              </a:rPr>
              <a:t>Yes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3825" y="3399752"/>
            <a:ext cx="1727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CACAC"/>
                </a:solidFill>
                <a:latin typeface="Trebuchet MS"/>
                <a:cs typeface="Trebuchet MS"/>
              </a:rPr>
              <a:t>N</a:t>
            </a:r>
            <a:r>
              <a:rPr dirty="0" sz="850" spc="-90">
                <a:solidFill>
                  <a:srgbClr val="ACACAC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ACACAC"/>
                </a:solidFill>
                <a:latin typeface="Trebuchet MS"/>
                <a:cs typeface="Trebuchet MS"/>
              </a:rPr>
              <a:t>0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8246" y="4981156"/>
            <a:ext cx="2038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70">
                <a:solidFill>
                  <a:srgbClr val="ACACAC"/>
                </a:solidFill>
                <a:latin typeface="Times New Roman"/>
                <a:cs typeface="Times New Roman"/>
              </a:rPr>
              <a:t>Yes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07351" y="5921578"/>
            <a:ext cx="11048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131C3B"/>
                </a:solidFill>
                <a:latin typeface="OCR A Extended"/>
                <a:cs typeface="OCR A Extended"/>
              </a:rPr>
              <a:t>0</a:t>
            </a:r>
            <a:endParaRPr sz="1050">
              <a:latin typeface="OCR A Extended"/>
              <a:cs typeface="OCR A Extended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59760" y="3045602"/>
            <a:ext cx="1816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solidFill>
                  <a:srgbClr val="131C3B"/>
                </a:solidFill>
                <a:latin typeface="Courier New"/>
                <a:cs typeface="Courier New"/>
              </a:rPr>
              <a:t>99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07831" y="5927922"/>
            <a:ext cx="22732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131D3B"/>
                </a:solidFill>
                <a:latin typeface="Trebuchet MS"/>
                <a:cs typeface="Trebuchet MS"/>
              </a:rPr>
              <a:t>500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894710" y="3691433"/>
            <a:ext cx="2190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20">
                <a:solidFill>
                  <a:srgbClr val="313654"/>
                </a:solidFill>
                <a:latin typeface="OCR A Extended"/>
                <a:cs typeface="OCR A Extended"/>
              </a:rPr>
              <a:t>641</a:t>
            </a:r>
            <a:endParaRPr sz="1050">
              <a:latin typeface="OCR A Extended"/>
              <a:cs typeface="OCR A Extended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894710" y="4658724"/>
            <a:ext cx="2190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20">
                <a:solidFill>
                  <a:srgbClr val="313854"/>
                </a:solidFill>
                <a:latin typeface="OCR A Extended"/>
                <a:cs typeface="OCR A Extended"/>
              </a:rPr>
              <a:t>641</a:t>
            </a:r>
            <a:endParaRPr sz="1050">
              <a:latin typeface="OCR A Extended"/>
              <a:cs typeface="OCR A Extended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399347" y="5915234"/>
            <a:ext cx="1809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solidFill>
                  <a:srgbClr val="131C3D"/>
                </a:solidFill>
                <a:latin typeface="OCR A Extended"/>
                <a:cs typeface="OCR A Extended"/>
              </a:rPr>
              <a:t>IK</a:t>
            </a:r>
            <a:endParaRPr sz="1100">
              <a:latin typeface="OCR A Extended"/>
              <a:cs typeface="OCR A Extended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211692" y="5921578"/>
            <a:ext cx="2705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50">
                <a:solidFill>
                  <a:srgbClr val="131C3B"/>
                </a:solidFill>
                <a:latin typeface="OCR A Extended"/>
                <a:cs typeface="OCR A Extended"/>
              </a:rPr>
              <a:t>1.5K</a:t>
            </a:r>
            <a:endParaRPr sz="1050">
              <a:latin typeface="OCR A Extended"/>
              <a:cs typeface="OCR A Extended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123734" y="5921578"/>
            <a:ext cx="1663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131C3A"/>
                </a:solidFill>
                <a:latin typeface="Trebuchet MS"/>
                <a:cs typeface="Trebuchet MS"/>
              </a:rPr>
              <a:t>2K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609020" y="5298213"/>
            <a:ext cx="3435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35">
                <a:solidFill>
                  <a:srgbClr val="131C38"/>
                </a:solidFill>
                <a:latin typeface="OCR A Extended"/>
                <a:cs typeface="OCR A Extended"/>
              </a:rPr>
              <a:t>2.21K</a:t>
            </a:r>
            <a:endParaRPr sz="1050">
              <a:latin typeface="OCR A Extended"/>
              <a:cs typeface="OCR A Extended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935184" y="5921578"/>
            <a:ext cx="2667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0">
                <a:solidFill>
                  <a:srgbClr val="181D3D"/>
                </a:solidFill>
                <a:latin typeface="Trebuchet MS"/>
                <a:cs typeface="Trebuchet MS"/>
              </a:rPr>
              <a:t>2.5K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5597549" y="1506144"/>
            <a:ext cx="389826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60"/>
              <a:t>Top</a:t>
            </a:r>
            <a:r>
              <a:rPr dirty="0" sz="2200" spc="-229"/>
              <a:t> </a:t>
            </a:r>
            <a:r>
              <a:rPr dirty="0" sz="2200" spc="-85"/>
              <a:t>Influencing</a:t>
            </a:r>
            <a:r>
              <a:rPr dirty="0" sz="2200" spc="105"/>
              <a:t> </a:t>
            </a:r>
            <a:r>
              <a:rPr dirty="0" sz="2200" spc="-105"/>
              <a:t>Factors</a:t>
            </a:r>
            <a:r>
              <a:rPr dirty="0" sz="2200" spc="-75"/>
              <a:t> </a:t>
            </a:r>
            <a:r>
              <a:rPr dirty="0" sz="2200" spc="-114"/>
              <a:t>by</a:t>
            </a:r>
            <a:r>
              <a:rPr dirty="0" sz="2200" spc="-185"/>
              <a:t> </a:t>
            </a:r>
            <a:r>
              <a:rPr dirty="0" sz="2200" spc="-100"/>
              <a:t>Gender</a:t>
            </a:r>
            <a:endParaRPr sz="2200"/>
          </a:p>
        </p:txBody>
      </p:sp>
      <p:sp>
        <p:nvSpPr>
          <p:cNvPr id="28" name="object 28" descr=""/>
          <p:cNvSpPr txBox="1"/>
          <p:nvPr/>
        </p:nvSpPr>
        <p:spPr>
          <a:xfrm>
            <a:off x="5596332" y="1951277"/>
            <a:ext cx="1156335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9545" indent="-156845">
              <a:lnSpc>
                <a:spcPct val="100000"/>
              </a:lnSpc>
              <a:spcBef>
                <a:spcPts val="100"/>
              </a:spcBef>
              <a:buClr>
                <a:srgbClr val="52C397"/>
              </a:buClr>
              <a:buFont typeface="Arial"/>
              <a:buChar char="■"/>
              <a:tabLst>
                <a:tab pos="169545" algn="l"/>
              </a:tabLst>
            </a:pPr>
            <a:r>
              <a:rPr dirty="0" sz="1000">
                <a:solidFill>
                  <a:srgbClr val="232323"/>
                </a:solidFill>
                <a:latin typeface="Trebuchet MS"/>
                <a:cs typeface="Trebuchet MS"/>
              </a:rPr>
              <a:t>Trans</a:t>
            </a:r>
            <a:r>
              <a:rPr dirty="0" sz="1000" spc="43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54E4FF"/>
                </a:solidFill>
                <a:latin typeface="Arial"/>
                <a:cs typeface="Arial"/>
              </a:rPr>
              <a:t>■</a:t>
            </a:r>
            <a:r>
              <a:rPr dirty="0" sz="1000" spc="375">
                <a:solidFill>
                  <a:srgbClr val="54E4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727787"/>
                </a:solidFill>
                <a:latin typeface="Trebuchet MS"/>
                <a:cs typeface="Trebuchet MS"/>
              </a:rPr>
              <a:t>M</a:t>
            </a:r>
            <a:r>
              <a:rPr dirty="0" sz="1000" spc="490">
                <a:solidFill>
                  <a:srgbClr val="727787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6B87FD"/>
                </a:solidFill>
                <a:latin typeface="Trebuchet MS"/>
                <a:cs typeface="Trebuchet MS"/>
              </a:rPr>
              <a:t>W</a:t>
            </a:r>
            <a:r>
              <a:rPr dirty="0" sz="1000" spc="80">
                <a:solidFill>
                  <a:srgbClr val="6B87FD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131D3B"/>
                </a:solidFill>
                <a:latin typeface="Trebuchet MS"/>
                <a:cs typeface="Trebuchet MS"/>
              </a:rPr>
              <a:t>F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000">
              <a:latin typeface="Trebuchet MS"/>
              <a:cs typeface="Trebuchet MS"/>
            </a:endParaRPr>
          </a:p>
          <a:p>
            <a:pPr marL="31750">
              <a:lnSpc>
                <a:spcPct val="100000"/>
              </a:lnSpc>
            </a:pPr>
            <a:r>
              <a:rPr dirty="0" sz="1000" spc="-25">
                <a:solidFill>
                  <a:srgbClr val="ACACAC"/>
                </a:solidFill>
                <a:latin typeface="Trebuchet MS"/>
                <a:cs typeface="Trebuchet MS"/>
              </a:rPr>
              <a:t>800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rebuchet MS"/>
              <a:cs typeface="Trebuchet MS"/>
            </a:endParaRPr>
          </a:p>
          <a:p>
            <a:pPr marL="32384">
              <a:lnSpc>
                <a:spcPct val="100000"/>
              </a:lnSpc>
              <a:spcBef>
                <a:spcPts val="5"/>
              </a:spcBef>
            </a:pPr>
            <a:r>
              <a:rPr dirty="0" sz="950" spc="-25">
                <a:solidFill>
                  <a:srgbClr val="ACACAC"/>
                </a:solidFill>
                <a:latin typeface="Trebuchet MS"/>
                <a:cs typeface="Trebuchet MS"/>
              </a:rPr>
              <a:t>700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616296" y="3058290"/>
            <a:ext cx="2254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ACACAC"/>
                </a:solidFill>
                <a:latin typeface="Trebuchet MS"/>
                <a:cs typeface="Trebuchet MS"/>
              </a:rPr>
              <a:t>600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613445" y="3434458"/>
            <a:ext cx="22732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ACACAC"/>
                </a:solidFill>
                <a:latin typeface="Trebuchet MS"/>
                <a:cs typeface="Trebuchet MS"/>
              </a:rPr>
              <a:t>500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614747" y="3816001"/>
            <a:ext cx="229870" cy="554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ACACAC"/>
                </a:solidFill>
                <a:latin typeface="Cambria"/>
                <a:cs typeface="Cambria"/>
              </a:rPr>
              <a:t>400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solidFill>
                  <a:srgbClr val="ACACAC"/>
                </a:solidFill>
                <a:latin typeface="Trebuchet MS"/>
                <a:cs typeface="Trebuchet MS"/>
              </a:rPr>
              <a:t>300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618028" y="4574684"/>
            <a:ext cx="2228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ACACAC"/>
                </a:solidFill>
                <a:latin typeface="Trebuchet MS"/>
                <a:cs typeface="Trebuchet MS"/>
              </a:rPr>
              <a:t>200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615722" y="4962571"/>
            <a:ext cx="2120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ACACAC"/>
                </a:solidFill>
                <a:latin typeface="Trebuchet MS"/>
                <a:cs typeface="Trebuchet MS"/>
              </a:rPr>
              <a:t>100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748013" y="5319707"/>
            <a:ext cx="102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ACACAC"/>
                </a:solidFill>
                <a:latin typeface="OCR A Extended"/>
                <a:cs typeface="OCR A Extended"/>
              </a:rPr>
              <a:t>0</a:t>
            </a:r>
            <a:endParaRPr sz="1050">
              <a:latin typeface="OCR A Extended"/>
              <a:cs typeface="OCR A Extended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711607" y="6441871"/>
            <a:ext cx="12750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878787"/>
                </a:solidFill>
                <a:latin typeface="Courier New"/>
                <a:cs typeface="Courier New"/>
              </a:rPr>
              <a:t>O</a:t>
            </a:r>
            <a:r>
              <a:rPr dirty="0" sz="1100" spc="-315">
                <a:solidFill>
                  <a:srgbClr val="87878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878787"/>
                </a:solidFill>
                <a:latin typeface="Courier New"/>
                <a:cs typeface="Courier New"/>
              </a:rPr>
              <a:t>O</a:t>
            </a:r>
            <a:r>
              <a:rPr dirty="0" sz="1100" spc="-315">
                <a:solidFill>
                  <a:srgbClr val="87878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878787"/>
                </a:solidFill>
                <a:latin typeface="Courier New"/>
                <a:cs typeface="Courier New"/>
              </a:rPr>
              <a:t>O</a:t>
            </a:r>
            <a:r>
              <a:rPr dirty="0" sz="1100" spc="-310">
                <a:solidFill>
                  <a:srgbClr val="87878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27272"/>
                </a:solidFill>
                <a:latin typeface="Courier New"/>
                <a:cs typeface="Courier New"/>
              </a:rPr>
              <a:t>O</a:t>
            </a:r>
            <a:r>
              <a:rPr dirty="0" sz="1100" spc="-315">
                <a:solidFill>
                  <a:srgbClr val="727272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878787"/>
                </a:solidFill>
                <a:latin typeface="Courier New"/>
                <a:cs typeface="Courier New"/>
              </a:rPr>
              <a:t>O</a:t>
            </a:r>
            <a:r>
              <a:rPr dirty="0" sz="1100" spc="-310">
                <a:solidFill>
                  <a:srgbClr val="87878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878787"/>
                </a:solidFill>
                <a:latin typeface="Courier New"/>
                <a:cs typeface="Courier New"/>
              </a:rPr>
              <a:t>ONO</a:t>
            </a:r>
            <a:r>
              <a:rPr dirty="0" sz="1100" spc="380">
                <a:solidFill>
                  <a:srgbClr val="87878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878787"/>
                </a:solidFill>
                <a:latin typeface="Courier New"/>
                <a:cs typeface="Courier New"/>
              </a:rPr>
              <a:t>O</a:t>
            </a:r>
            <a:r>
              <a:rPr dirty="0" sz="1100" spc="-315">
                <a:solidFill>
                  <a:srgbClr val="878787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878787"/>
                </a:solidFill>
                <a:latin typeface="Courier New"/>
                <a:cs typeface="Courier New"/>
              </a:rPr>
              <a:t>O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2607" y="3055467"/>
            <a:ext cx="617991" cy="6018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126" y="2501277"/>
            <a:ext cx="4326255" cy="353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>
                <a:solidFill>
                  <a:srgbClr val="151D3D"/>
                </a:solidFill>
              </a:rPr>
              <a:t>Distribution</a:t>
            </a:r>
            <a:r>
              <a:rPr dirty="0" spc="-90">
                <a:solidFill>
                  <a:srgbClr val="151D3D"/>
                </a:solidFill>
              </a:rPr>
              <a:t> </a:t>
            </a:r>
            <a:r>
              <a:rPr dirty="0" spc="-180"/>
              <a:t>oF</a:t>
            </a:r>
            <a:r>
              <a:rPr dirty="0" spc="-165"/>
              <a:t> </a:t>
            </a:r>
            <a:r>
              <a:rPr dirty="0" spc="-70">
                <a:solidFill>
                  <a:srgbClr val="161C3B"/>
                </a:solidFill>
              </a:rPr>
              <a:t>Working</a:t>
            </a:r>
            <a:r>
              <a:rPr dirty="0" spc="-30">
                <a:solidFill>
                  <a:srgbClr val="161C3B"/>
                </a:solidFill>
              </a:rPr>
              <a:t> </a:t>
            </a:r>
            <a:r>
              <a:rPr dirty="0" spc="-60"/>
              <a:t>Environments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2003" y="2874536"/>
            <a:ext cx="629920" cy="68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 marR="5080" indent="635">
              <a:lnSpc>
                <a:spcPct val="131400"/>
              </a:lnSpc>
              <a:spcBef>
                <a:spcPts val="100"/>
              </a:spcBef>
            </a:pPr>
            <a:r>
              <a:rPr dirty="0" sz="1100" spc="-10">
                <a:solidFill>
                  <a:srgbClr val="6B7083"/>
                </a:solidFill>
                <a:latin typeface="Trebuchet MS"/>
                <a:cs typeface="Trebuchet MS"/>
              </a:rPr>
              <a:t>Hybrid </a:t>
            </a:r>
            <a:r>
              <a:rPr dirty="0" sz="1100" spc="-95">
                <a:solidFill>
                  <a:srgbClr val="3B425E"/>
                </a:solidFill>
                <a:latin typeface="Trebuchet MS"/>
                <a:cs typeface="Trebuchet MS"/>
              </a:rPr>
              <a:t>Remote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100">
                <a:solidFill>
                  <a:srgbClr val="6B87FD"/>
                </a:solidFill>
                <a:latin typeface="Trebuchet MS"/>
                <a:cs typeface="Trebuchet MS"/>
              </a:rPr>
              <a:t>B</a:t>
            </a:r>
            <a:r>
              <a:rPr dirty="0" sz="1100" spc="90">
                <a:solidFill>
                  <a:srgbClr val="6B87FD"/>
                </a:solidFill>
                <a:latin typeface="Trebuchet MS"/>
                <a:cs typeface="Trebuchet MS"/>
              </a:rPr>
              <a:t>  </a:t>
            </a:r>
            <a:r>
              <a:rPr dirty="0" sz="1100" spc="-10">
                <a:solidFill>
                  <a:srgbClr val="50566E"/>
                </a:solidFill>
                <a:latin typeface="Trebuchet MS"/>
                <a:cs typeface="Trebuchet MS"/>
              </a:rPr>
              <a:t>Office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30772" y="4196575"/>
            <a:ext cx="3651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80">
                <a:solidFill>
                  <a:srgbClr val="131C3B"/>
                </a:solidFill>
                <a:latin typeface="Courier New"/>
                <a:cs typeface="Courier New"/>
              </a:rPr>
              <a:t>39.3%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58977" y="3933257"/>
            <a:ext cx="3733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75">
                <a:solidFill>
                  <a:srgbClr val="182642"/>
                </a:solidFill>
                <a:latin typeface="Courier New"/>
                <a:cs typeface="Courier New"/>
              </a:rPr>
              <a:t>49.7%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36346" y="2882149"/>
            <a:ext cx="3482340" cy="154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8275" marR="5080" indent="-156210">
              <a:lnSpc>
                <a:spcPct val="115900"/>
              </a:lnSpc>
              <a:spcBef>
                <a:spcPts val="100"/>
              </a:spcBef>
              <a:buChar char="•"/>
              <a:tabLst>
                <a:tab pos="171450" algn="l"/>
              </a:tabLst>
            </a:pP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Nearly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D3B"/>
                </a:solidFill>
                <a:latin typeface="Arial"/>
                <a:cs typeface="Arial"/>
              </a:rPr>
              <a:t>half</a:t>
            </a:r>
            <a:r>
              <a:rPr dirty="0" sz="1400" spc="-70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of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respondents</a:t>
            </a:r>
            <a:r>
              <a:rPr dirty="0" sz="1400" spc="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0">
                <a:solidFill>
                  <a:srgbClr val="131C3B"/>
                </a:solidFill>
                <a:latin typeface="Arial"/>
                <a:cs typeface="Arial"/>
              </a:rPr>
              <a:t>(49.7%)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work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in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a 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hybrid</a:t>
            </a:r>
            <a:r>
              <a:rPr dirty="0" sz="1400" spc="-35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model,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making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C2644"/>
                </a:solidFill>
                <a:latin typeface="Arial"/>
                <a:cs typeface="Arial"/>
              </a:rPr>
              <a:t>it</a:t>
            </a:r>
            <a:r>
              <a:rPr dirty="0" sz="1400" spc="-70">
                <a:solidFill>
                  <a:srgbClr val="1C264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most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common 	arrangement</a:t>
            </a:r>
            <a:endParaRPr sz="1400">
              <a:latin typeface="Arial"/>
              <a:cs typeface="Arial"/>
            </a:endParaRPr>
          </a:p>
          <a:p>
            <a:pPr marL="167640" marR="216535" indent="-155575">
              <a:lnSpc>
                <a:spcPct val="114599"/>
              </a:lnSpc>
              <a:spcBef>
                <a:spcPts val="315"/>
              </a:spcBef>
              <a:buChar char="•"/>
              <a:tabLst>
                <a:tab pos="171450" algn="l"/>
              </a:tabLst>
            </a:pP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Fully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remote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51D3D"/>
                </a:solidFill>
                <a:latin typeface="Arial"/>
                <a:cs typeface="Arial"/>
              </a:rPr>
              <a:t>work</a:t>
            </a:r>
            <a:r>
              <a:rPr dirty="0" sz="1400" spc="-15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1C3A"/>
                </a:solidFill>
                <a:latin typeface="Arial"/>
                <a:cs typeface="Arial"/>
              </a:rPr>
              <a:t>accounts</a:t>
            </a:r>
            <a:r>
              <a:rPr dirty="0" sz="1400" spc="-10">
                <a:solidFill>
                  <a:srgbClr val="131C3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for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39.3%,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25">
                <a:solidFill>
                  <a:srgbClr val="151D3D"/>
                </a:solidFill>
                <a:latin typeface="Arial"/>
                <a:cs typeface="Arial"/>
              </a:rPr>
              <a:t>substantially</a:t>
            </a:r>
            <a:r>
              <a:rPr dirty="0" sz="1400" spc="10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more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than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office-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only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131C3B"/>
                </a:solidFill>
                <a:latin typeface="Arial"/>
                <a:cs typeface="Arial"/>
              </a:rPr>
              <a:t>(11%), </a:t>
            </a:r>
            <a:r>
              <a:rPr dirty="0" sz="1400" spc="-95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indicating</a:t>
            </a:r>
            <a:r>
              <a:rPr dirty="0" sz="14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8393"/>
                </a:solidFill>
                <a:latin typeface="Arial"/>
                <a:cs typeface="Arial"/>
              </a:rPr>
              <a:t>strong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preference</a:t>
            </a:r>
            <a:r>
              <a:rPr dirty="0" sz="1400" spc="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for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flexibility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544" y="2281633"/>
            <a:ext cx="714720" cy="121448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23896" y="5791289"/>
            <a:ext cx="5119370" cy="0"/>
          </a:xfrm>
          <a:custGeom>
            <a:avLst/>
            <a:gdLst/>
            <a:ahLst/>
            <a:cxnLst/>
            <a:rect l="l" t="t" r="r" b="b"/>
            <a:pathLst>
              <a:path w="5119370" h="0">
                <a:moveTo>
                  <a:pt x="0" y="0"/>
                </a:moveTo>
                <a:lnTo>
                  <a:pt x="5118943" y="0"/>
                </a:lnTo>
              </a:path>
            </a:pathLst>
          </a:custGeom>
          <a:ln w="12180">
            <a:solidFill>
              <a:srgbClr val="131C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Study</a:t>
            </a:r>
            <a:r>
              <a:rPr dirty="0" spc="-105"/>
              <a:t> </a:t>
            </a:r>
            <a:r>
              <a:rPr dirty="0" spc="-45"/>
              <a:t>Abroad</a:t>
            </a:r>
            <a:r>
              <a:rPr dirty="0" spc="-114"/>
              <a:t> </a:t>
            </a:r>
            <a:r>
              <a:rPr dirty="0" spc="-50">
                <a:solidFill>
                  <a:srgbClr val="131C3D"/>
                </a:solidFill>
              </a:rPr>
              <a:t>Responses</a:t>
            </a:r>
            <a:r>
              <a:rPr dirty="0" spc="-30">
                <a:solidFill>
                  <a:srgbClr val="131C3D"/>
                </a:solidFill>
              </a:rPr>
              <a:t> </a:t>
            </a:r>
            <a:r>
              <a:rPr dirty="0" spc="-75"/>
              <a:t>by</a:t>
            </a:r>
            <a:r>
              <a:rPr dirty="0" spc="-160"/>
              <a:t> </a:t>
            </a:r>
            <a:r>
              <a:rPr dirty="0" spc="-25"/>
              <a:t>Country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28811" y="1939562"/>
            <a:ext cx="16973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9580" algn="l"/>
              </a:tabLst>
            </a:pPr>
            <a:r>
              <a:rPr dirty="0" sz="1050" spc="-25">
                <a:solidFill>
                  <a:srgbClr val="131C3B"/>
                </a:solidFill>
                <a:latin typeface="Arial"/>
                <a:cs typeface="Arial"/>
              </a:rPr>
              <a:t>Yes</a:t>
            </a:r>
            <a:r>
              <a:rPr dirty="0" sz="105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050" spc="-30">
                <a:solidFill>
                  <a:srgbClr val="6B7085"/>
                </a:solidFill>
                <a:latin typeface="Arial"/>
                <a:cs typeface="Arial"/>
              </a:rPr>
              <a:t>sponsershiped</a:t>
            </a:r>
            <a:r>
              <a:rPr dirty="0" sz="1050" spc="425">
                <a:solidFill>
                  <a:srgbClr val="6B708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B87FD"/>
                </a:solidFill>
                <a:latin typeface="Arial"/>
                <a:cs typeface="Arial"/>
              </a:rPr>
              <a:t>■</a:t>
            </a:r>
            <a:r>
              <a:rPr dirty="0" sz="1050" spc="260">
                <a:solidFill>
                  <a:srgbClr val="6B87FD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31C3B"/>
                </a:solidFill>
                <a:latin typeface="Arial"/>
                <a:cs typeface="Arial"/>
              </a:rPr>
              <a:t>No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04977" y="5917176"/>
            <a:ext cx="24955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5">
                <a:solidFill>
                  <a:srgbClr val="444B64"/>
                </a:solidFill>
                <a:latin typeface="Arial"/>
                <a:cs typeface="Arial"/>
              </a:rPr>
              <a:t>USA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36938" y="5917176"/>
            <a:ext cx="2286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20">
                <a:solidFill>
                  <a:srgbClr val="131C3B"/>
                </a:solidFill>
                <a:latin typeface="Arial"/>
                <a:cs typeface="Arial"/>
              </a:rPr>
              <a:t>PAK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97444" y="5923520"/>
            <a:ext cx="3505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161F3D"/>
                </a:solidFill>
                <a:latin typeface="Arial"/>
                <a:cs typeface="Arial"/>
              </a:rPr>
              <a:t>Oth</a:t>
            </a:r>
            <a:r>
              <a:rPr dirty="0" sz="950" spc="-105">
                <a:solidFill>
                  <a:srgbClr val="161F3D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313854"/>
                </a:solidFill>
                <a:latin typeface="Arial"/>
                <a:cs typeface="Arial"/>
              </a:rPr>
              <a:t>er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70207" y="3766668"/>
            <a:ext cx="24320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5">
                <a:solidFill>
                  <a:srgbClr val="131C3D"/>
                </a:solidFill>
                <a:latin typeface="OCR A Extended"/>
                <a:cs typeface="OCR A Extended"/>
              </a:rPr>
              <a:t>769</a:t>
            </a:r>
            <a:endParaRPr sz="1050">
              <a:latin typeface="OCR A Extended"/>
              <a:cs typeface="OCR A Extended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21233" y="4931075"/>
            <a:ext cx="3403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182341"/>
                </a:solidFill>
                <a:latin typeface="Arial"/>
                <a:cs typeface="Arial"/>
              </a:rPr>
              <a:t>1.54K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66207" y="5917176"/>
            <a:ext cx="2508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151D3D"/>
                </a:solidFill>
                <a:latin typeface="Arial"/>
                <a:cs typeface="Arial"/>
              </a:rPr>
              <a:t>IND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77260" y="5929864"/>
            <a:ext cx="2755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A2141"/>
                </a:solidFill>
                <a:latin typeface="Arial"/>
                <a:cs typeface="Arial"/>
              </a:rPr>
              <a:t>CND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36346" y="1882612"/>
            <a:ext cx="3548379" cy="1546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59385" marR="17145" indent="-147320">
              <a:lnSpc>
                <a:spcPct val="115900"/>
              </a:lnSpc>
              <a:spcBef>
                <a:spcPts val="100"/>
              </a:spcBef>
              <a:buClr>
                <a:srgbClr val="131C3B"/>
              </a:buClr>
              <a:buChar char="•"/>
              <a:tabLst>
                <a:tab pos="169545" algn="l"/>
              </a:tabLst>
            </a:pPr>
            <a:r>
              <a:rPr dirty="0" sz="1400">
                <a:solidFill>
                  <a:srgbClr val="131C3A"/>
                </a:solidFill>
                <a:latin typeface="Arial"/>
                <a:cs typeface="Arial"/>
              </a:rPr>
              <a:t>India</a:t>
            </a:r>
            <a:r>
              <a:rPr dirty="0" sz="1400" spc="-40">
                <a:solidFill>
                  <a:srgbClr val="131C3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respondents</a:t>
            </a:r>
            <a:r>
              <a:rPr dirty="0" sz="1400" spc="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overwhelmingly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51D3D"/>
                </a:solidFill>
                <a:latin typeface="Arial"/>
                <a:cs typeface="Arial"/>
              </a:rPr>
              <a:t>dominate </a:t>
            </a:r>
            <a:r>
              <a:rPr dirty="0" sz="1400" spc="-25">
                <a:solidFill>
                  <a:srgbClr val="151D3D"/>
                </a:solidFill>
                <a:latin typeface="Arial"/>
                <a:cs typeface="Arial"/>
              </a:rPr>
              <a:t>	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all</a:t>
            </a:r>
            <a:r>
              <a:rPr dirty="0" sz="1400" spc="-9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study-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abroad</a:t>
            </a:r>
            <a:r>
              <a:rPr dirty="0" sz="1400" spc="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categories,</a:t>
            </a:r>
            <a:r>
              <a:rPr dirty="0" sz="1400" spc="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51D3D"/>
                </a:solidFill>
                <a:latin typeface="Arial"/>
                <a:cs typeface="Arial"/>
              </a:rPr>
              <a:t>with</a:t>
            </a:r>
            <a:r>
              <a:rPr dirty="0" sz="1400" spc="-85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131C3B"/>
                </a:solidFill>
                <a:latin typeface="Arial"/>
                <a:cs typeface="Arial"/>
              </a:rPr>
              <a:t>1.54K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“Yes”,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85">
                <a:solidFill>
                  <a:srgbClr val="131C3B"/>
                </a:solidFill>
                <a:latin typeface="Arial"/>
                <a:cs typeface="Arial"/>
              </a:rPr>
              <a:t>769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“sponsored”,</a:t>
            </a:r>
            <a:r>
              <a:rPr dirty="0" sz="1400" spc="8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131C3B"/>
                </a:solidFill>
                <a:latin typeface="Arial"/>
                <a:cs typeface="Arial"/>
              </a:rPr>
              <a:t>and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131C3B"/>
                </a:solidFill>
                <a:latin typeface="Arial"/>
                <a:cs typeface="Arial"/>
              </a:rPr>
              <a:t>1.17K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“No”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responses</a:t>
            </a:r>
            <a:endParaRPr sz="1400">
              <a:latin typeface="Arial"/>
              <a:cs typeface="Arial"/>
            </a:endParaRPr>
          </a:p>
          <a:p>
            <a:pPr marL="168275" marR="5080" indent="-156210">
              <a:lnSpc>
                <a:spcPct val="115900"/>
              </a:lnSpc>
              <a:spcBef>
                <a:spcPts val="295"/>
              </a:spcBef>
              <a:buChar char="•"/>
              <a:tabLst>
                <a:tab pos="171450" algn="l"/>
              </a:tabLst>
            </a:pP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Other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countries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contribute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negligible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counts,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highlighting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60">
                <a:solidFill>
                  <a:srgbClr val="131C3B"/>
                </a:solidFill>
                <a:latin typeface="Arial"/>
                <a:cs typeface="Arial"/>
              </a:rPr>
              <a:t>a</a:t>
            </a:r>
            <a:r>
              <a:rPr dirty="0" sz="1400" spc="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highly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skewed</a:t>
            </a:r>
            <a:r>
              <a:rPr dirty="0" sz="1400" spc="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51D3D"/>
                </a:solidFill>
                <a:latin typeface="Arial"/>
                <a:cs typeface="Arial"/>
              </a:rPr>
              <a:t>geographic </a:t>
            </a:r>
            <a:r>
              <a:rPr dirty="0" sz="1400" spc="-10">
                <a:solidFill>
                  <a:srgbClr val="151D3D"/>
                </a:solidFill>
                <a:latin typeface="Arial"/>
                <a:cs typeface="Arial"/>
              </a:rPr>
              <a:t>	</a:t>
            </a:r>
            <a:r>
              <a:rPr dirty="0" sz="1400" spc="-10">
                <a:solidFill>
                  <a:srgbClr val="131D3B"/>
                </a:solidFill>
                <a:latin typeface="Arial"/>
                <a:cs typeface="Arial"/>
              </a:rPr>
              <a:t>distribution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97755" y="4859502"/>
          <a:ext cx="9481185" cy="1221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8170"/>
                <a:gridCol w="590550"/>
                <a:gridCol w="747394"/>
                <a:gridCol w="539114"/>
                <a:gridCol w="591185"/>
                <a:gridCol w="661035"/>
                <a:gridCol w="263525"/>
                <a:gridCol w="440689"/>
                <a:gridCol w="494029"/>
                <a:gridCol w="763905"/>
                <a:gridCol w="689609"/>
                <a:gridCol w="1749425"/>
              </a:tblGrid>
              <a:tr h="202565">
                <a:tc gridSpan="5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1425"/>
                        </a:lnSpc>
                      </a:pPr>
                      <a:r>
                        <a:rPr dirty="0" sz="1250" spc="-50">
                          <a:solidFill>
                            <a:srgbClr val="666666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0955">
                        <a:lnSpc>
                          <a:spcPts val="1425"/>
                        </a:lnSpc>
                      </a:pPr>
                      <a:r>
                        <a:rPr dirty="0" sz="1250" spc="-25">
                          <a:solidFill>
                            <a:srgbClr val="666666"/>
                          </a:solidFill>
                          <a:latin typeface="Trebuchet MS"/>
                          <a:cs typeface="Trebuchet MS"/>
                        </a:rPr>
                        <a:t>22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4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61009"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50" spc="-50">
                          <a:solidFill>
                            <a:srgbClr val="676767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250">
                        <a:latin typeface="Arial"/>
                        <a:cs typeface="Arial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200">
                          <a:solidFill>
                            <a:srgbClr val="6B87FD"/>
                          </a:solidFill>
                          <a:latin typeface="Arial"/>
                          <a:cs typeface="Arial"/>
                        </a:rPr>
                        <a:t>€f</a:t>
                      </a:r>
                      <a:r>
                        <a:rPr dirty="0" sz="1200" spc="235">
                          <a:solidFill>
                            <a:srgbClr val="6B87F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Trans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50" spc="-2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dirty="0" sz="1200" spc="-5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8735"/>
                </a:tc>
                <a:tc gridSpan="4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6860">
                <a:tc>
                  <a:txBody>
                    <a:bodyPr/>
                    <a:lstStyle/>
                    <a:p>
                      <a:pPr algn="r" marR="3721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900" spc="-50">
                          <a:solidFill>
                            <a:srgbClr val="1370C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25">
                          <a:solidFill>
                            <a:srgbClr val="3D4460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25">
                          <a:solidFill>
                            <a:srgbClr val="3B4260"/>
                          </a:solidFill>
                          <a:latin typeface="Arial"/>
                          <a:cs typeface="Arial"/>
                        </a:rPr>
                        <a:t>22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 spc="-50">
                          <a:solidFill>
                            <a:srgbClr val="6B8AB6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000" spc="-25">
                          <a:solidFill>
                            <a:srgbClr val="1344A8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000" spc="-25">
                          <a:solidFill>
                            <a:srgbClr val="136EC6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35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000" spc="-50">
                          <a:solidFill>
                            <a:srgbClr val="5077A3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63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50">
                          <a:solidFill>
                            <a:srgbClr val="1C3169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25">
                          <a:solidFill>
                            <a:srgbClr val="1344A8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 spc="-50">
                          <a:solidFill>
                            <a:srgbClr val="2A5687"/>
                          </a:solidFill>
                          <a:latin typeface="OCR A Extended"/>
                          <a:cs typeface="OCR A Extended"/>
                        </a:rPr>
                        <a:t>0</a:t>
                      </a:r>
                      <a:endParaRPr sz="1050">
                        <a:latin typeface="OCR A Extended"/>
                        <a:cs typeface="OCR A Extended"/>
                      </a:endParaRPr>
                    </a:p>
                  </a:txBody>
                  <a:tcPr marL="0" marR="0" marB="0" marT="67945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9433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900" spc="-50">
                          <a:solidFill>
                            <a:srgbClr val="131C62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86995">
                    <a:lnB w="9525">
                      <a:solidFill>
                        <a:srgbClr val="151C42"/>
                      </a:solidFill>
                      <a:prstDash val="soli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marL="20320">
                        <a:lnSpc>
                          <a:spcPts val="1075"/>
                        </a:lnSpc>
                        <a:spcBef>
                          <a:spcPts val="1040"/>
                        </a:spcBef>
                      </a:pPr>
                      <a:r>
                        <a:rPr dirty="0" sz="950">
                          <a:solidFill>
                            <a:srgbClr val="234B7C"/>
                          </a:solidFill>
                          <a:latin typeface="Arial"/>
                          <a:cs typeface="Arial"/>
                        </a:rPr>
                        <a:t>31</a:t>
                      </a:r>
                      <a:r>
                        <a:rPr dirty="0" sz="950">
                          <a:solidFill>
                            <a:srgbClr val="156EC6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950" spc="-20">
                          <a:solidFill>
                            <a:srgbClr val="156EC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3B75AE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50" spc="90">
                          <a:solidFill>
                            <a:srgbClr val="3B75A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5">
                          <a:solidFill>
                            <a:srgbClr val="1344AA"/>
                          </a:solidFill>
                          <a:latin typeface="Arial"/>
                          <a:cs typeface="Arial"/>
                        </a:rPr>
                        <a:t>40k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3208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ts val="1175"/>
                        </a:lnSpc>
                        <a:spcBef>
                          <a:spcPts val="940"/>
                        </a:spcBef>
                      </a:pPr>
                      <a:r>
                        <a:rPr dirty="0" sz="1050" spc="-55">
                          <a:solidFill>
                            <a:srgbClr val="131D42"/>
                          </a:solidFill>
                          <a:latin typeface="Arial"/>
                          <a:cs typeface="Arial"/>
                        </a:rPr>
                        <a:t>26k</a:t>
                      </a:r>
                      <a:r>
                        <a:rPr dirty="0" sz="1050">
                          <a:solidFill>
                            <a:srgbClr val="131D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53F8E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50" spc="-65">
                          <a:solidFill>
                            <a:srgbClr val="153F8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>
                          <a:solidFill>
                            <a:srgbClr val="13235B"/>
                          </a:solidFill>
                          <a:latin typeface="Arial"/>
                          <a:cs typeface="Arial"/>
                        </a:rPr>
                        <a:t>30k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1938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0">
                        <a:lnSpc>
                          <a:spcPts val="1175"/>
                        </a:lnSpc>
                        <a:spcBef>
                          <a:spcPts val="940"/>
                        </a:spcBef>
                      </a:pPr>
                      <a:r>
                        <a:rPr dirty="0" sz="1050" spc="-130">
                          <a:solidFill>
                            <a:srgbClr val="131D3B"/>
                          </a:solidFill>
                          <a:latin typeface="Arial"/>
                          <a:cs typeface="Arial"/>
                        </a:rPr>
                        <a:t>2J</a:t>
                      </a:r>
                      <a:r>
                        <a:rPr dirty="0" sz="1050" spc="-110">
                          <a:solidFill>
                            <a:srgbClr val="131D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313131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050" spc="-35">
                          <a:solidFill>
                            <a:srgbClr val="3131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53F8E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50" spc="-45">
                          <a:solidFill>
                            <a:srgbClr val="153F8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>
                          <a:solidFill>
                            <a:srgbClr val="7E2A3D"/>
                          </a:solidFill>
                          <a:latin typeface="Arial"/>
                          <a:cs typeface="Arial"/>
                        </a:rPr>
                        <a:t>25k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1938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5"/>
                        </a:lnSpc>
                        <a:spcBef>
                          <a:spcPts val="1040"/>
                        </a:spcBef>
                      </a:pPr>
                      <a:r>
                        <a:rPr dirty="0" sz="950">
                          <a:solidFill>
                            <a:srgbClr val="156EC6"/>
                          </a:solidFill>
                          <a:latin typeface="Arial"/>
                          <a:cs typeface="Arial"/>
                        </a:rPr>
                        <a:t>16k</a:t>
                      </a:r>
                      <a:r>
                        <a:rPr dirty="0" sz="950" spc="75">
                          <a:solidFill>
                            <a:srgbClr val="156EC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15317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50" spc="60">
                          <a:solidFill>
                            <a:srgbClr val="15317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5">
                          <a:solidFill>
                            <a:srgbClr val="161F49"/>
                          </a:solidFill>
                          <a:latin typeface="Arial"/>
                          <a:cs typeface="Arial"/>
                        </a:rPr>
                        <a:t>20k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3208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18159">
                        <a:lnSpc>
                          <a:spcPts val="1075"/>
                        </a:lnSpc>
                        <a:spcBef>
                          <a:spcPts val="1040"/>
                        </a:spcBef>
                      </a:pPr>
                      <a:r>
                        <a:rPr dirty="0" sz="950">
                          <a:solidFill>
                            <a:srgbClr val="1344A8"/>
                          </a:solidFill>
                          <a:latin typeface="Arial"/>
                          <a:cs typeface="Arial"/>
                        </a:rPr>
                        <a:t>10k</a:t>
                      </a:r>
                      <a:r>
                        <a:rPr dirty="0" sz="950" spc="75">
                          <a:solidFill>
                            <a:srgbClr val="1344A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15317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50" spc="70">
                          <a:solidFill>
                            <a:srgbClr val="15317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5">
                          <a:solidFill>
                            <a:srgbClr val="131C62"/>
                          </a:solidFill>
                          <a:latin typeface="Arial"/>
                          <a:cs typeface="Arial"/>
                        </a:rPr>
                        <a:t>15k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32080">
                    <a:lnT w="9525">
                      <a:solidFill>
                        <a:srgbClr val="151C42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1212" y="5641482"/>
            <a:ext cx="26925" cy="8616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2794" y="5641482"/>
            <a:ext cx="26925" cy="861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Salary</a:t>
            </a:r>
            <a:r>
              <a:rPr dirty="0" spc="-120"/>
              <a:t> </a:t>
            </a:r>
            <a:r>
              <a:rPr dirty="0" spc="-60"/>
              <a:t>Expectations</a:t>
            </a:r>
            <a:r>
              <a:rPr dirty="0" spc="10"/>
              <a:t> </a:t>
            </a:r>
            <a:r>
              <a:rPr dirty="0" spc="-70">
                <a:solidFill>
                  <a:srgbClr val="131D3B"/>
                </a:solidFill>
              </a:rPr>
              <a:t>at</a:t>
            </a:r>
            <a:r>
              <a:rPr dirty="0" spc="-140">
                <a:solidFill>
                  <a:srgbClr val="131D3B"/>
                </a:solidFill>
              </a:rPr>
              <a:t> </a:t>
            </a:r>
            <a:r>
              <a:rPr dirty="0" spc="-95"/>
              <a:t>Career</a:t>
            </a:r>
            <a:r>
              <a:rPr dirty="0" spc="-30"/>
              <a:t> </a:t>
            </a:r>
            <a:r>
              <a:rPr dirty="0" spc="-55"/>
              <a:t>Start</a:t>
            </a:r>
            <a:r>
              <a:rPr dirty="0" spc="-100"/>
              <a:t> by</a:t>
            </a:r>
            <a:r>
              <a:rPr dirty="0" spc="-110"/>
              <a:t> </a:t>
            </a:r>
            <a:r>
              <a:rPr dirty="0" spc="-75"/>
              <a:t>Gender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8945" y="1939410"/>
            <a:ext cx="9925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755" algn="l"/>
              </a:tabLst>
            </a:pPr>
            <a:r>
              <a:rPr dirty="0" sz="1000" spc="-50">
                <a:solidFill>
                  <a:srgbClr val="151C80"/>
                </a:solidFill>
                <a:latin typeface="Arial"/>
                <a:cs typeface="Arial"/>
              </a:rPr>
              <a:t>F</a:t>
            </a:r>
            <a:r>
              <a:rPr dirty="0" sz="1000">
                <a:solidFill>
                  <a:srgbClr val="151C80"/>
                </a:solidFill>
                <a:latin typeface="Arial"/>
                <a:cs typeface="Arial"/>
              </a:rPr>
              <a:t>	</a:t>
            </a:r>
            <a:r>
              <a:rPr dirty="0" sz="1000">
                <a:solidFill>
                  <a:srgbClr val="3B879A"/>
                </a:solidFill>
                <a:latin typeface="Arial"/>
                <a:cs typeface="Arial"/>
              </a:rPr>
              <a:t>M</a:t>
            </a:r>
            <a:r>
              <a:rPr dirty="0" sz="1000" spc="440">
                <a:solidFill>
                  <a:srgbClr val="3B879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B87FD"/>
                </a:solidFill>
                <a:latin typeface="Arial"/>
                <a:cs typeface="Arial"/>
              </a:rPr>
              <a:t>B</a:t>
            </a:r>
            <a:r>
              <a:rPr dirty="0" sz="1000" spc="245">
                <a:solidFill>
                  <a:srgbClr val="6B87FD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131C62"/>
                </a:solidFill>
                <a:latin typeface="Arial"/>
                <a:cs typeface="Arial"/>
              </a:rPr>
              <a:t>Trans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30178" y="3619551"/>
            <a:ext cx="2654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0">
                <a:solidFill>
                  <a:srgbClr val="151A3B"/>
                </a:solidFill>
                <a:latin typeface="Arial"/>
                <a:cs typeface="Arial"/>
              </a:rPr>
              <a:t>.41</a:t>
            </a:r>
            <a:r>
              <a:rPr dirty="0" sz="1000" spc="-30">
                <a:solidFill>
                  <a:srgbClr val="156EC6"/>
                </a:solidFill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11948" y="2655624"/>
            <a:ext cx="2590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0">
                <a:solidFill>
                  <a:srgbClr val="131C3B"/>
                </a:solidFill>
                <a:latin typeface="Trebuchet MS"/>
                <a:cs typeface="Trebuchet MS"/>
              </a:rPr>
              <a:t>2.1K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218949" y="4578617"/>
            <a:ext cx="71501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45">
                <a:solidFill>
                  <a:srgbClr val="676767"/>
                </a:solidFill>
                <a:latin typeface="Arial"/>
                <a:cs typeface="Arial"/>
              </a:rPr>
              <a:t>26k</a:t>
            </a:r>
            <a:r>
              <a:rPr dirty="0" sz="1250" spc="1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96969"/>
                </a:solidFill>
                <a:latin typeface="Arial"/>
                <a:cs typeface="Arial"/>
              </a:rPr>
              <a:t>to </a:t>
            </a:r>
            <a:r>
              <a:rPr dirty="0" sz="1250" spc="-75">
                <a:solidFill>
                  <a:srgbClr val="676767"/>
                </a:solidFill>
                <a:latin typeface="Arial"/>
                <a:cs typeface="Arial"/>
              </a:rPr>
              <a:t>30k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746083" y="2505543"/>
          <a:ext cx="5551805" cy="306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825"/>
                <a:gridCol w="2487295"/>
                <a:gridCol w="1584325"/>
              </a:tblGrid>
              <a:tr h="276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8233F"/>
                      </a:solidFill>
                      <a:prstDash val="solid"/>
                    </a:lnL>
                    <a:lnT w="9525">
                      <a:solidFill>
                        <a:srgbClr val="18233F"/>
                      </a:solidFill>
                      <a:prstDash val="solid"/>
                    </a:lnT>
                    <a:lnB w="9525">
                      <a:solidFill>
                        <a:srgbClr val="1823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7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75">
                          <a:solidFill>
                            <a:srgbClr val="131C3B"/>
                          </a:solidFill>
                          <a:latin typeface="Trebuchet MS"/>
                          <a:cs typeface="Trebuchet MS"/>
                        </a:rPr>
                        <a:t>salary</a:t>
                      </a:r>
                      <a:r>
                        <a:rPr dirty="0" sz="1300" spc="-110">
                          <a:solidFill>
                            <a:srgbClr val="131C3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105">
                          <a:solidFill>
                            <a:srgbClr val="568AA0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dirty="0" sz="1300" spc="-110">
                          <a:solidFill>
                            <a:srgbClr val="568A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155">
                          <a:solidFill>
                            <a:srgbClr val="131D3B"/>
                          </a:solidFill>
                          <a:latin typeface="Trebuchet MS"/>
                          <a:cs typeface="Trebuchet MS"/>
                        </a:rPr>
                        <a:t>mid</a:t>
                      </a:r>
                      <a:r>
                        <a:rPr dirty="0" sz="1300" spc="-90">
                          <a:solidFill>
                            <a:srgbClr val="131D3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10">
                          <a:solidFill>
                            <a:srgbClr val="131C3B"/>
                          </a:solidFill>
                          <a:latin typeface="Trebuchet MS"/>
                          <a:cs typeface="Trebuchet MS"/>
                        </a:rPr>
                        <a:t>careers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17145">
                    <a:lnT w="9525">
                      <a:solidFill>
                        <a:srgbClr val="18233F"/>
                      </a:solidFill>
                      <a:prstDash val="solid"/>
                    </a:lnT>
                    <a:lnB w="9525">
                      <a:solidFill>
                        <a:srgbClr val="1823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150" spc="-10">
                          <a:solidFill>
                            <a:srgbClr val="131C3B"/>
                          </a:solidFill>
                          <a:latin typeface="Trebuchet MS"/>
                          <a:cs typeface="Trebuchet MS"/>
                        </a:rPr>
                        <a:t>COUNT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R w="9525">
                      <a:solidFill>
                        <a:srgbClr val="18233F"/>
                      </a:solidFill>
                      <a:prstDash val="solid"/>
                    </a:lnR>
                    <a:lnT w="9525">
                      <a:solidFill>
                        <a:srgbClr val="18233F"/>
                      </a:solidFill>
                      <a:prstDash val="solid"/>
                    </a:lnT>
                    <a:lnB w="9525">
                      <a:solidFill>
                        <a:srgbClr val="18233F"/>
                      </a:solidFill>
                      <a:prstDash val="solid"/>
                    </a:lnB>
                  </a:tcPr>
                </a:tc>
              </a:tr>
              <a:tr h="274955"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 spc="-20">
                          <a:solidFill>
                            <a:srgbClr val="4F566E"/>
                          </a:solidFill>
                          <a:latin typeface="Trebuchet MS"/>
                          <a:cs typeface="Trebuchet MS"/>
                        </a:rPr>
                        <a:t>&gt;50k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9525">
                      <a:solidFill>
                        <a:srgbClr val="18233F"/>
                      </a:solidFill>
                      <a:prstDash val="solid"/>
                    </a:lnL>
                    <a:lnT w="9525">
                      <a:solidFill>
                        <a:srgbClr val="1823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13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050" spc="-10">
                          <a:solidFill>
                            <a:srgbClr val="444B66"/>
                          </a:solidFill>
                          <a:latin typeface="Trebuchet MS"/>
                          <a:cs typeface="Trebuchet MS"/>
                        </a:rPr>
                        <a:t>&gt;</a:t>
                      </a:r>
                      <a:r>
                        <a:rPr dirty="0" sz="1050" spc="-10">
                          <a:solidFill>
                            <a:srgbClr val="1A2141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050" spc="-10">
                          <a:solidFill>
                            <a:srgbClr val="7C8293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r>
                        <a:rPr dirty="0" sz="1050" spc="-10">
                          <a:solidFill>
                            <a:srgbClr val="3D445D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050" spc="-10">
                          <a:solidFill>
                            <a:srgbClr val="2F3652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51435">
                    <a:lnT w="9525">
                      <a:solidFill>
                        <a:srgbClr val="1823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100" spc="-25">
                          <a:solidFill>
                            <a:srgbClr val="5B6277"/>
                          </a:solidFill>
                          <a:latin typeface="OCR A Extended"/>
                          <a:cs typeface="OCR A Extended"/>
                        </a:rPr>
                        <a:t>589</a:t>
                      </a:r>
                      <a:endParaRPr sz="1100">
                        <a:latin typeface="OCR A Extended"/>
                        <a:cs typeface="OCR A Extended"/>
                      </a:endParaRPr>
                    </a:p>
                  </a:txBody>
                  <a:tcPr marL="0" marR="0" marB="0" marT="45085">
                    <a:lnR w="9525">
                      <a:solidFill>
                        <a:srgbClr val="18233F"/>
                      </a:solidFill>
                      <a:prstDash val="solid"/>
                    </a:lnR>
                    <a:lnT w="9525">
                      <a:solidFill>
                        <a:srgbClr val="18233F"/>
                      </a:solidFill>
                      <a:prstDash val="solid"/>
                    </a:lnT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>
                          <a:solidFill>
                            <a:srgbClr val="696E82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100">
                          <a:solidFill>
                            <a:srgbClr val="262D4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10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100" spc="-85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0">
                          <a:solidFill>
                            <a:srgbClr val="1A234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100" spc="-75">
                          <a:solidFill>
                            <a:srgbClr val="1A234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>
                          <a:solidFill>
                            <a:srgbClr val="444964"/>
                          </a:solidFill>
                          <a:latin typeface="Trebuchet MS"/>
                          <a:cs typeface="Trebuchet MS"/>
                        </a:rPr>
                        <a:t>40k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L w="9525">
                      <a:solidFill>
                        <a:srgbClr val="18233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001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-10">
                          <a:solidFill>
                            <a:srgbClr val="313854"/>
                          </a:solidFill>
                          <a:latin typeface="Trebuchet MS"/>
                          <a:cs typeface="Trebuchet MS"/>
                        </a:rPr>
                        <a:t>71</a:t>
                      </a:r>
                      <a:r>
                        <a:rPr dirty="0" sz="1100" spc="-10">
                          <a:solidFill>
                            <a:srgbClr val="2F3654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100" spc="-45">
                          <a:solidFill>
                            <a:srgbClr val="2F36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>
                          <a:solidFill>
                            <a:srgbClr val="1A234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100" spc="-120">
                          <a:solidFill>
                            <a:srgbClr val="1A234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>
                          <a:solidFill>
                            <a:srgbClr val="1C2142"/>
                          </a:solidFill>
                          <a:latin typeface="Trebuchet MS"/>
                          <a:cs typeface="Trebuchet MS"/>
                        </a:rPr>
                        <a:t>90k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-25">
                          <a:solidFill>
                            <a:srgbClr val="161C3B"/>
                          </a:solidFill>
                          <a:latin typeface="Trebuchet MS"/>
                          <a:cs typeface="Trebuchet MS"/>
                        </a:rPr>
                        <a:t>200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R w="9525">
                      <a:solidFill>
                        <a:srgbClr val="18233F"/>
                      </a:solidFill>
                      <a:prstDash val="solid"/>
                    </a:lnR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-10">
                          <a:solidFill>
                            <a:srgbClr val="161F3D"/>
                          </a:solidFill>
                          <a:latin typeface="Trebuchet MS"/>
                          <a:cs typeface="Trebuchet MS"/>
                        </a:rPr>
                        <a:t>41</a:t>
                      </a:r>
                      <a:r>
                        <a:rPr dirty="0" sz="1100" spc="-1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100" spc="-6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0">
                          <a:solidFill>
                            <a:srgbClr val="182141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100" spc="-90">
                          <a:solidFill>
                            <a:srgbClr val="18214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>
                          <a:solidFill>
                            <a:srgbClr val="828999"/>
                          </a:solidFill>
                          <a:latin typeface="Trebuchet MS"/>
                          <a:cs typeface="Trebuchet MS"/>
                        </a:rPr>
                        <a:t>50k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0165">
                    <a:lnL w="9525">
                      <a:solidFill>
                        <a:srgbClr val="18233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0010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050">
                          <a:solidFill>
                            <a:srgbClr val="3A3F5D"/>
                          </a:solidFill>
                          <a:latin typeface="Arial"/>
                          <a:cs typeface="Arial"/>
                        </a:rPr>
                        <a:t>91</a:t>
                      </a:r>
                      <a:r>
                        <a:rPr dirty="0" sz="1050">
                          <a:solidFill>
                            <a:srgbClr val="2D3654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050" spc="-20">
                          <a:solidFill>
                            <a:srgbClr val="2D36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8214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40">
                          <a:solidFill>
                            <a:srgbClr val="1821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0">
                          <a:solidFill>
                            <a:srgbClr val="1A2342"/>
                          </a:solidFill>
                          <a:latin typeface="Arial"/>
                          <a:cs typeface="Arial"/>
                        </a:rPr>
                        <a:t>110k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-25">
                          <a:solidFill>
                            <a:srgbClr val="313131"/>
                          </a:solidFill>
                          <a:latin typeface="Trebuchet MS"/>
                          <a:cs typeface="Trebuchet MS"/>
                        </a:rPr>
                        <a:t>195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0165">
                    <a:lnR w="9525">
                      <a:solidFill>
                        <a:srgbClr val="18233F"/>
                      </a:solidFill>
                      <a:prstDash val="solid"/>
                    </a:lnR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-30">
                          <a:solidFill>
                            <a:srgbClr val="383D5B"/>
                          </a:solidFill>
                          <a:latin typeface="Cambria"/>
                          <a:cs typeface="Cambria"/>
                        </a:rPr>
                        <a:t>26k</a:t>
                      </a:r>
                      <a:r>
                        <a:rPr dirty="0" sz="1100" spc="20">
                          <a:solidFill>
                            <a:srgbClr val="383D5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>
                          <a:solidFill>
                            <a:srgbClr val="182142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100" spc="-45">
                          <a:solidFill>
                            <a:srgbClr val="18214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>
                          <a:solidFill>
                            <a:srgbClr val="444D67"/>
                          </a:solidFill>
                          <a:latin typeface="Cambria"/>
                          <a:cs typeface="Cambria"/>
                        </a:rPr>
                        <a:t>30k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0">
                    <a:lnL w="9525">
                      <a:solidFill>
                        <a:srgbClr val="18233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001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-10">
                          <a:solidFill>
                            <a:srgbClr val="484F69"/>
                          </a:solidFill>
                          <a:latin typeface="Trebuchet MS"/>
                          <a:cs typeface="Trebuchet MS"/>
                        </a:rPr>
                        <a:t>71</a:t>
                      </a:r>
                      <a:r>
                        <a:rPr dirty="0" sz="1100" spc="-10">
                          <a:solidFill>
                            <a:srgbClr val="2F3654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100" spc="-45">
                          <a:solidFill>
                            <a:srgbClr val="2F36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>
                          <a:solidFill>
                            <a:srgbClr val="1A2342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100" spc="-120">
                          <a:solidFill>
                            <a:srgbClr val="1A234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>
                          <a:solidFill>
                            <a:srgbClr val="182341"/>
                          </a:solidFill>
                          <a:latin typeface="Trebuchet MS"/>
                          <a:cs typeface="Trebuchet MS"/>
                        </a:rPr>
                        <a:t>90k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080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100" spc="-25">
                          <a:solidFill>
                            <a:srgbClr val="363D59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100" spc="-25">
                          <a:solidFill>
                            <a:srgbClr val="2F3854"/>
                          </a:solidFill>
                          <a:latin typeface="Trebuchet MS"/>
                          <a:cs typeface="Trebuchet MS"/>
                        </a:rPr>
                        <a:t>55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0800">
                    <a:lnR w="9525">
                      <a:solidFill>
                        <a:srgbClr val="18233F"/>
                      </a:solidFill>
                      <a:prstDash val="solid"/>
                    </a:lnR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-10">
                          <a:solidFill>
                            <a:srgbClr val="161F3D"/>
                          </a:solidFill>
                          <a:latin typeface="Trebuchet MS"/>
                          <a:cs typeface="Trebuchet MS"/>
                        </a:rPr>
                        <a:t>41</a:t>
                      </a:r>
                      <a:r>
                        <a:rPr dirty="0" sz="1100" spc="-1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100" spc="-6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0">
                          <a:solidFill>
                            <a:srgbClr val="18213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100" spc="-90">
                          <a:solidFill>
                            <a:srgbClr val="18213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>
                          <a:solidFill>
                            <a:srgbClr val="85899A"/>
                          </a:solidFill>
                          <a:latin typeface="Trebuchet MS"/>
                          <a:cs typeface="Trebuchet MS"/>
                        </a:rPr>
                        <a:t>50k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0165">
                    <a:lnL w="9525">
                      <a:solidFill>
                        <a:srgbClr val="18233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013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-25">
                          <a:solidFill>
                            <a:srgbClr val="3B425B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1A2342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181F3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2A314F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100" spc="-45">
                          <a:solidFill>
                            <a:srgbClr val="2A31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60">
                          <a:solidFill>
                            <a:srgbClr val="1A2342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100" spc="-25">
                          <a:solidFill>
                            <a:srgbClr val="1A23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161F3F"/>
                          </a:solidFill>
                          <a:latin typeface="Arial"/>
                          <a:cs typeface="Arial"/>
                        </a:rPr>
                        <a:t>130k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-25">
                          <a:solidFill>
                            <a:srgbClr val="363D59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100" spc="-25">
                          <a:solidFill>
                            <a:srgbClr val="1A1F3F"/>
                          </a:solidFill>
                          <a:latin typeface="Trebuchet MS"/>
                          <a:cs typeface="Trebuchet MS"/>
                        </a:rPr>
                        <a:t>45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0165">
                    <a:lnR w="9525">
                      <a:solidFill>
                        <a:srgbClr val="18233F"/>
                      </a:solidFill>
                      <a:prstDash val="solid"/>
                    </a:lnR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50" spc="-20">
                          <a:solidFill>
                            <a:srgbClr val="525970"/>
                          </a:solidFill>
                          <a:latin typeface="Trebuchet MS"/>
                          <a:cs typeface="Trebuchet MS"/>
                        </a:rPr>
                        <a:t>&gt;50k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9525">
                      <a:solidFill>
                        <a:srgbClr val="18233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0137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spc="-25">
                          <a:solidFill>
                            <a:srgbClr val="3A415D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3B425D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100" spc="-25">
                          <a:solidFill>
                            <a:srgbClr val="181F3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2A3150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100" spc="-45">
                          <a:solidFill>
                            <a:srgbClr val="2A31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60">
                          <a:solidFill>
                            <a:srgbClr val="1C234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100" spc="-25">
                          <a:solidFill>
                            <a:srgbClr val="1C23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161F3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0">
                          <a:solidFill>
                            <a:srgbClr val="878C9A"/>
                          </a:solidFill>
                          <a:latin typeface="Arial"/>
                          <a:cs typeface="Arial"/>
                        </a:rPr>
                        <a:t>50k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spc="-25">
                          <a:solidFill>
                            <a:srgbClr val="363D59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100" spc="-25">
                          <a:solidFill>
                            <a:srgbClr val="1A1F3F"/>
                          </a:solidFill>
                          <a:latin typeface="Trebuchet MS"/>
                          <a:cs typeface="Trebuchet MS"/>
                        </a:rPr>
                        <a:t>42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R w="9525">
                      <a:solidFill>
                        <a:srgbClr val="18233F"/>
                      </a:solidFill>
                      <a:prstDash val="solid"/>
                    </a:lnR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>
                          <a:solidFill>
                            <a:srgbClr val="697083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100">
                          <a:solidFill>
                            <a:srgbClr val="262D4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10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100" spc="-85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0">
                          <a:solidFill>
                            <a:srgbClr val="161F3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100" spc="-75">
                          <a:solidFill>
                            <a:srgbClr val="161F3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>
                          <a:solidFill>
                            <a:srgbClr val="444964"/>
                          </a:solidFill>
                          <a:latin typeface="Trebuchet MS"/>
                          <a:cs typeface="Trebuchet MS"/>
                        </a:rPr>
                        <a:t>40k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L w="9525">
                      <a:solidFill>
                        <a:srgbClr val="18233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001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050">
                          <a:solidFill>
                            <a:srgbClr val="36415B"/>
                          </a:solidFill>
                          <a:latin typeface="Arial"/>
                          <a:cs typeface="Arial"/>
                        </a:rPr>
                        <a:t>91</a:t>
                      </a:r>
                      <a:r>
                        <a:rPr dirty="0" sz="1050">
                          <a:solidFill>
                            <a:srgbClr val="2F3654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050" spc="-20">
                          <a:solidFill>
                            <a:srgbClr val="2F36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61F3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40">
                          <a:solidFill>
                            <a:srgbClr val="161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0">
                          <a:solidFill>
                            <a:srgbClr val="1A2342"/>
                          </a:solidFill>
                          <a:latin typeface="Arial"/>
                          <a:cs typeface="Arial"/>
                        </a:rPr>
                        <a:t>110k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5244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-25">
                          <a:solidFill>
                            <a:srgbClr val="363D59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100" spc="-25">
                          <a:solidFill>
                            <a:srgbClr val="1A1F3F"/>
                          </a:solidFill>
                          <a:latin typeface="Trebuchet MS"/>
                          <a:cs typeface="Trebuchet MS"/>
                        </a:rPr>
                        <a:t>40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R w="9525">
                      <a:solidFill>
                        <a:srgbClr val="18233F"/>
                      </a:solidFill>
                      <a:prstDash val="solid"/>
                    </a:lnR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50" spc="-20">
                          <a:solidFill>
                            <a:srgbClr val="343434"/>
                          </a:solidFill>
                          <a:latin typeface="Trebuchet MS"/>
                          <a:cs typeface="Trebuchet MS"/>
                        </a:rPr>
                        <a:t>&gt;50k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9525">
                      <a:solidFill>
                        <a:srgbClr val="18233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0137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spc="-25">
                          <a:solidFill>
                            <a:srgbClr val="3A415B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1A2342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161F3D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2A334F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100" spc="-45">
                          <a:solidFill>
                            <a:srgbClr val="2A33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60">
                          <a:solidFill>
                            <a:srgbClr val="1C214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100" spc="-25">
                          <a:solidFill>
                            <a:srgbClr val="1C21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161F3F"/>
                          </a:solidFill>
                          <a:latin typeface="Arial"/>
                          <a:cs typeface="Arial"/>
                        </a:rPr>
                        <a:t>130k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spc="-25">
                          <a:solidFill>
                            <a:srgbClr val="363D59"/>
                          </a:solidFill>
                          <a:latin typeface="Trebuchet MS"/>
                          <a:cs typeface="Trebuchet MS"/>
                        </a:rPr>
                        <a:t>134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R w="9525">
                      <a:solidFill>
                        <a:srgbClr val="18233F"/>
                      </a:solidFill>
                      <a:prstDash val="solid"/>
                    </a:lnR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-10">
                          <a:solidFill>
                            <a:srgbClr val="161F3F"/>
                          </a:solidFill>
                          <a:latin typeface="Trebuchet MS"/>
                          <a:cs typeface="Trebuchet MS"/>
                        </a:rPr>
                        <a:t>41</a:t>
                      </a:r>
                      <a:r>
                        <a:rPr dirty="0" sz="1100" spc="-1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100" spc="-6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0">
                          <a:solidFill>
                            <a:srgbClr val="151D3D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100" spc="-90">
                          <a:solidFill>
                            <a:srgbClr val="151D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>
                          <a:solidFill>
                            <a:srgbClr val="898C9C"/>
                          </a:solidFill>
                          <a:latin typeface="Trebuchet MS"/>
                          <a:cs typeface="Trebuchet MS"/>
                        </a:rPr>
                        <a:t>50k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L w="9525">
                      <a:solidFill>
                        <a:srgbClr val="18233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0137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050" spc="-10">
                          <a:solidFill>
                            <a:srgbClr val="4D5270"/>
                          </a:solidFill>
                          <a:latin typeface="Trebuchet MS"/>
                          <a:cs typeface="Trebuchet MS"/>
                        </a:rPr>
                        <a:t>&gt;</a:t>
                      </a:r>
                      <a:r>
                        <a:rPr dirty="0" sz="1050" spc="-10">
                          <a:solidFill>
                            <a:srgbClr val="1A2342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050" spc="-10">
                          <a:solidFill>
                            <a:srgbClr val="333A56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r>
                        <a:rPr dirty="0" sz="1050" spc="-10">
                          <a:solidFill>
                            <a:srgbClr val="3D445D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050" spc="-10">
                          <a:solidFill>
                            <a:srgbClr val="2F3652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55244"/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-25">
                          <a:solidFill>
                            <a:srgbClr val="363D59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100" spc="-25">
                          <a:solidFill>
                            <a:srgbClr val="151D3D"/>
                          </a:solidFill>
                          <a:latin typeface="Trebuchet MS"/>
                          <a:cs typeface="Trebuchet MS"/>
                        </a:rPr>
                        <a:t>26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R w="9525">
                      <a:solidFill>
                        <a:srgbClr val="18233F"/>
                      </a:solidFill>
                      <a:prstDash val="solid"/>
                    </a:lnR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-10">
                          <a:solidFill>
                            <a:srgbClr val="2F3652"/>
                          </a:solidFill>
                          <a:latin typeface="Trebuchet MS"/>
                          <a:cs typeface="Trebuchet MS"/>
                        </a:rPr>
                        <a:t>41</a:t>
                      </a:r>
                      <a:r>
                        <a:rPr dirty="0" sz="1100" spc="-1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100" spc="-60">
                          <a:solidFill>
                            <a:srgbClr val="464D6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0">
                          <a:solidFill>
                            <a:srgbClr val="151D3D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100" spc="-90">
                          <a:solidFill>
                            <a:srgbClr val="151D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>
                          <a:solidFill>
                            <a:srgbClr val="898C9C"/>
                          </a:solidFill>
                          <a:latin typeface="Trebuchet MS"/>
                          <a:cs typeface="Trebuchet MS"/>
                        </a:rPr>
                        <a:t>50k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0165">
                    <a:lnL w="9525">
                      <a:solidFill>
                        <a:srgbClr val="18233F"/>
                      </a:solidFill>
                      <a:prstDash val="solid"/>
                    </a:lnL>
                    <a:lnB w="9525">
                      <a:solidFill>
                        <a:srgbClr val="1823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13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-25">
                          <a:solidFill>
                            <a:srgbClr val="383F5B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3B425D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100" spc="-25">
                          <a:solidFill>
                            <a:srgbClr val="181F3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5">
                          <a:solidFill>
                            <a:srgbClr val="2B334F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100" spc="-45">
                          <a:solidFill>
                            <a:srgbClr val="2B33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60">
                          <a:solidFill>
                            <a:srgbClr val="18213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100" spc="-25">
                          <a:solidFill>
                            <a:srgbClr val="1821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161F3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0">
                          <a:solidFill>
                            <a:srgbClr val="3D425E"/>
                          </a:solidFill>
                          <a:latin typeface="Arial"/>
                          <a:cs typeface="Arial"/>
                        </a:rPr>
                        <a:t>50k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B w="9525">
                      <a:solidFill>
                        <a:srgbClr val="1823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spc="-25">
                          <a:solidFill>
                            <a:srgbClr val="363D59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100" spc="-25">
                          <a:solidFill>
                            <a:srgbClr val="1F2846"/>
                          </a:solidFill>
                          <a:latin typeface="Trebuchet MS"/>
                          <a:cs typeface="Trebuchet MS"/>
                        </a:rPr>
                        <a:t>20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50165">
                    <a:lnR w="9525">
                      <a:solidFill>
                        <a:srgbClr val="18233F"/>
                      </a:solidFill>
                      <a:prstDash val="solid"/>
                    </a:lnR>
                    <a:lnB w="9525">
                      <a:solidFill>
                        <a:srgbClr val="18233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7376" y="2587942"/>
            <a:ext cx="1359581" cy="13434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36615" y="2335286"/>
            <a:ext cx="3510279" cy="306070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82880" marR="5080" indent="-170815">
              <a:lnSpc>
                <a:spcPct val="112799"/>
              </a:lnSpc>
              <a:spcBef>
                <a:spcPts val="80"/>
              </a:spcBef>
              <a:buChar char="•"/>
              <a:tabLst>
                <a:tab pos="182880" algn="l"/>
              </a:tabLst>
            </a:pPr>
            <a:r>
              <a:rPr dirty="0" sz="1450" spc="-125">
                <a:solidFill>
                  <a:srgbClr val="131C3B"/>
                </a:solidFill>
                <a:latin typeface="Trebuchet MS"/>
                <a:cs typeface="Trebuchet MS"/>
              </a:rPr>
              <a:t>The</a:t>
            </a:r>
            <a:r>
              <a:rPr dirty="0" sz="1450" spc="-1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70">
                <a:solidFill>
                  <a:srgbClr val="131C3B"/>
                </a:solidFill>
                <a:latin typeface="Trebuchet MS"/>
                <a:cs typeface="Trebuchet MS"/>
              </a:rPr>
              <a:t>largest</a:t>
            </a:r>
            <a:r>
              <a:rPr dirty="0" sz="1450" spc="10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40">
                <a:solidFill>
                  <a:srgbClr val="131C3B"/>
                </a:solidFill>
                <a:latin typeface="Trebuchet MS"/>
                <a:cs typeface="Trebuchet MS"/>
              </a:rPr>
              <a:t>group</a:t>
            </a:r>
            <a:r>
              <a:rPr dirty="0" sz="1450" spc="-130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131C3B"/>
                </a:solidFill>
                <a:latin typeface="Trebuchet MS"/>
                <a:cs typeface="Trebuchet MS"/>
              </a:rPr>
              <a:t>(589)</a:t>
            </a:r>
            <a:r>
              <a:rPr dirty="0" sz="1450" spc="-1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85">
                <a:solidFill>
                  <a:srgbClr val="131C3B"/>
                </a:solidFill>
                <a:latin typeface="Trebuchet MS"/>
                <a:cs typeface="Trebuchet MS"/>
              </a:rPr>
              <a:t>move</a:t>
            </a:r>
            <a:r>
              <a:rPr dirty="0" sz="1450" spc="-20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90">
                <a:solidFill>
                  <a:srgbClr val="1C2644"/>
                </a:solidFill>
                <a:latin typeface="Trebuchet MS"/>
                <a:cs typeface="Trebuchet MS"/>
              </a:rPr>
              <a:t>from</a:t>
            </a:r>
            <a:r>
              <a:rPr dirty="0" sz="1450" spc="-30">
                <a:solidFill>
                  <a:srgbClr val="1C2644"/>
                </a:solidFill>
                <a:latin typeface="Trebuchet MS"/>
                <a:cs typeface="Trebuchet MS"/>
              </a:rPr>
              <a:t> </a:t>
            </a:r>
            <a:r>
              <a:rPr dirty="0" sz="1450" spc="-60">
                <a:solidFill>
                  <a:srgbClr val="131C3D"/>
                </a:solidFill>
                <a:latin typeface="Trebuchet MS"/>
                <a:cs typeface="Trebuchet MS"/>
              </a:rPr>
              <a:t>&gt;50k</a:t>
            </a:r>
            <a:r>
              <a:rPr dirty="0" sz="1450" spc="5">
                <a:solidFill>
                  <a:srgbClr val="131C3D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131C3B"/>
                </a:solidFill>
                <a:latin typeface="Trebuchet MS"/>
                <a:cs typeface="Trebuchet MS"/>
              </a:rPr>
              <a:t>at </a:t>
            </a:r>
            <a:r>
              <a:rPr dirty="0" sz="1450" spc="-100">
                <a:solidFill>
                  <a:srgbClr val="131C3B"/>
                </a:solidFill>
                <a:latin typeface="Trebuchet MS"/>
                <a:cs typeface="Trebuchet MS"/>
              </a:rPr>
              <a:t>early</a:t>
            </a:r>
            <a:r>
              <a:rPr dirty="0" sz="1450" spc="2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110">
                <a:solidFill>
                  <a:srgbClr val="131C3B"/>
                </a:solidFill>
                <a:latin typeface="Trebuchet MS"/>
                <a:cs typeface="Trebuchet MS"/>
              </a:rPr>
              <a:t>career</a:t>
            </a:r>
            <a:r>
              <a:rPr dirty="0" sz="1450" spc="-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85">
                <a:solidFill>
                  <a:srgbClr val="131C3B"/>
                </a:solidFill>
                <a:latin typeface="Trebuchet MS"/>
                <a:cs typeface="Trebuchet MS"/>
              </a:rPr>
              <a:t>to</a:t>
            </a:r>
            <a:r>
              <a:rPr dirty="0" sz="1450" spc="-70">
                <a:solidFill>
                  <a:srgbClr val="131C3B"/>
                </a:solidFill>
                <a:latin typeface="Trebuchet MS"/>
                <a:cs typeface="Trebuchet MS"/>
              </a:rPr>
              <a:t> &gt;151k</a:t>
            </a:r>
            <a:r>
              <a:rPr dirty="0" sz="1450" spc="-2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130">
                <a:solidFill>
                  <a:srgbClr val="131C3B"/>
                </a:solidFill>
                <a:latin typeface="Trebuchet MS"/>
                <a:cs typeface="Trebuchet MS"/>
              </a:rPr>
              <a:t>at</a:t>
            </a:r>
            <a:r>
              <a:rPr dirty="0" sz="1450" spc="-50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85">
                <a:solidFill>
                  <a:srgbClr val="131C3B"/>
                </a:solidFill>
                <a:latin typeface="Trebuchet MS"/>
                <a:cs typeface="Trebuchet MS"/>
              </a:rPr>
              <a:t>mid</a:t>
            </a:r>
            <a:r>
              <a:rPr dirty="0" sz="1450" spc="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131C3B"/>
                </a:solidFill>
                <a:latin typeface="Trebuchet MS"/>
                <a:cs typeface="Trebuchet MS"/>
              </a:rPr>
              <a:t>career, </a:t>
            </a:r>
            <a:r>
              <a:rPr dirty="0" sz="1450" spc="-75">
                <a:solidFill>
                  <a:srgbClr val="131C3B"/>
                </a:solidFill>
                <a:latin typeface="Trebuchet MS"/>
                <a:cs typeface="Trebuchet MS"/>
              </a:rPr>
              <a:t>indicating</a:t>
            </a:r>
            <a:r>
              <a:rPr dirty="0" sz="1450" spc="5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131C3D"/>
                </a:solidFill>
                <a:latin typeface="Trebuchet MS"/>
                <a:cs typeface="Trebuchet MS"/>
              </a:rPr>
              <a:t>strong</a:t>
            </a:r>
            <a:r>
              <a:rPr dirty="0" sz="1450" spc="-5">
                <a:solidFill>
                  <a:srgbClr val="131C3D"/>
                </a:solidFill>
                <a:latin typeface="Trebuchet MS"/>
                <a:cs typeface="Trebuchet MS"/>
              </a:rPr>
              <a:t> </a:t>
            </a:r>
            <a:r>
              <a:rPr dirty="0" sz="1450" spc="-85">
                <a:solidFill>
                  <a:srgbClr val="131C3B"/>
                </a:solidFill>
                <a:latin typeface="Trebuchet MS"/>
                <a:cs typeface="Trebuchet MS"/>
              </a:rPr>
              <a:t>upward</a:t>
            </a:r>
            <a:r>
              <a:rPr dirty="0" sz="1450" spc="-1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95">
                <a:solidFill>
                  <a:srgbClr val="131C3B"/>
                </a:solidFill>
                <a:latin typeface="Trebuchet MS"/>
                <a:cs typeface="Trebuchet MS"/>
              </a:rPr>
              <a:t>mobility</a:t>
            </a:r>
            <a:r>
              <a:rPr dirty="0" sz="1450" spc="-15">
                <a:solidFill>
                  <a:srgbClr val="131C3B"/>
                </a:solidFill>
                <a:latin typeface="Trebuchet MS"/>
                <a:cs typeface="Trebuchet MS"/>
              </a:rPr>
              <a:t> </a:t>
            </a:r>
            <a:r>
              <a:rPr dirty="0" sz="1450" spc="-80">
                <a:solidFill>
                  <a:srgbClr val="1C2644"/>
                </a:solidFill>
                <a:latin typeface="Trebuchet MS"/>
                <a:cs typeface="Trebuchet MS"/>
              </a:rPr>
              <a:t>for</a:t>
            </a:r>
            <a:r>
              <a:rPr dirty="0" sz="1450" spc="-30">
                <a:solidFill>
                  <a:srgbClr val="1C2644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131C3B"/>
                </a:solidFill>
                <a:latin typeface="Trebuchet MS"/>
                <a:cs typeface="Trebuchet MS"/>
              </a:rPr>
              <a:t>higher </a:t>
            </a:r>
            <a:r>
              <a:rPr dirty="0" sz="1400" spc="-10">
                <a:solidFill>
                  <a:srgbClr val="151D3D"/>
                </a:solidFill>
                <a:latin typeface="Cambria"/>
                <a:cs typeface="Cambria"/>
              </a:rPr>
              <a:t>starters</a:t>
            </a:r>
            <a:endParaRPr sz="1400">
              <a:latin typeface="Cambria"/>
              <a:cs typeface="Cambria"/>
            </a:endParaRPr>
          </a:p>
          <a:p>
            <a:pPr marL="180340" marR="43180" indent="-154940">
              <a:lnSpc>
                <a:spcPct val="116599"/>
              </a:lnSpc>
              <a:spcBef>
                <a:spcPts val="345"/>
              </a:spcBef>
              <a:buChar char="•"/>
              <a:tabLst>
                <a:tab pos="180340" algn="l"/>
                <a:tab pos="182245" algn="l"/>
              </a:tabLst>
            </a:pPr>
            <a:r>
              <a:rPr dirty="0" sz="135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350">
                <a:solidFill>
                  <a:srgbClr val="2F3A54"/>
                </a:solidFill>
                <a:latin typeface="Arial"/>
                <a:cs typeface="Arial"/>
              </a:rPr>
              <a:t>Mid-tier</a:t>
            </a:r>
            <a:r>
              <a:rPr dirty="0" sz="1350" spc="-5">
                <a:solidFill>
                  <a:srgbClr val="2F3A54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131C3B"/>
                </a:solidFill>
                <a:latin typeface="Arial"/>
                <a:cs typeface="Arial"/>
              </a:rPr>
              <a:t>early-</a:t>
            </a:r>
            <a:r>
              <a:rPr dirty="0" sz="1350" spc="-10">
                <a:solidFill>
                  <a:srgbClr val="131C3B"/>
                </a:solidFill>
                <a:latin typeface="Arial"/>
                <a:cs typeface="Arial"/>
              </a:rPr>
              <a:t>career</a:t>
            </a:r>
            <a:r>
              <a:rPr dirty="0" sz="1350" spc="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131C3B"/>
                </a:solidFill>
                <a:latin typeface="Arial"/>
                <a:cs typeface="Arial"/>
              </a:rPr>
              <a:t>salaries</a:t>
            </a:r>
            <a:r>
              <a:rPr dirty="0" sz="1350" spc="-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 spc="-165">
                <a:solidFill>
                  <a:srgbClr val="131C3B"/>
                </a:solidFill>
                <a:latin typeface="Arial"/>
                <a:cs typeface="Arial"/>
              </a:rPr>
              <a:t>(31—</a:t>
            </a:r>
            <a:r>
              <a:rPr dirty="0" sz="1350" spc="-95">
                <a:solidFill>
                  <a:srgbClr val="131C3B"/>
                </a:solidFill>
                <a:latin typeface="Arial"/>
                <a:cs typeface="Arial"/>
              </a:rPr>
              <a:t>40k)</a:t>
            </a:r>
            <a:r>
              <a:rPr dirty="0" sz="1350" spc="6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31C3B"/>
                </a:solidFill>
                <a:latin typeface="Arial"/>
                <a:cs typeface="Arial"/>
              </a:rPr>
              <a:t>most </a:t>
            </a:r>
            <a:r>
              <a:rPr dirty="0" sz="1400" spc="-10">
                <a:solidFill>
                  <a:srgbClr val="1C2644"/>
                </a:solidFill>
                <a:latin typeface="Arial"/>
                <a:cs typeface="Arial"/>
              </a:rPr>
              <a:t>frequently</a:t>
            </a:r>
            <a:r>
              <a:rPr dirty="0" sz="1400" spc="5">
                <a:solidFill>
                  <a:srgbClr val="1C264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transition</a:t>
            </a:r>
            <a:r>
              <a:rPr dirty="0" sz="14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to</a:t>
            </a:r>
            <a:r>
              <a:rPr dirty="0" sz="1400" spc="-9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25">
                <a:solidFill>
                  <a:srgbClr val="151D3D"/>
                </a:solidFill>
                <a:latin typeface="Arial"/>
                <a:cs typeface="Arial"/>
              </a:rPr>
              <a:t>71—</a:t>
            </a:r>
            <a:r>
              <a:rPr dirty="0" sz="1400" spc="-155">
                <a:solidFill>
                  <a:srgbClr val="151D3D"/>
                </a:solidFill>
                <a:latin typeface="Arial"/>
                <a:cs typeface="Arial"/>
              </a:rPr>
              <a:t>90k</a:t>
            </a:r>
            <a:r>
              <a:rPr dirty="0" sz="1400" spc="65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mid-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career </a:t>
            </a:r>
            <a:r>
              <a:rPr dirty="0" sz="1350" spc="-50">
                <a:solidFill>
                  <a:srgbClr val="131C3B"/>
                </a:solidFill>
                <a:latin typeface="Arial"/>
                <a:cs typeface="Arial"/>
              </a:rPr>
              <a:t>(200),</a:t>
            </a:r>
            <a:r>
              <a:rPr dirty="0" sz="135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1C3B"/>
                </a:solidFill>
                <a:latin typeface="Arial"/>
                <a:cs typeface="Arial"/>
              </a:rPr>
              <a:t>suggesting</a:t>
            </a:r>
            <a:r>
              <a:rPr dirty="0" sz="135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31D3B"/>
                </a:solidFill>
                <a:latin typeface="Arial"/>
                <a:cs typeface="Arial"/>
              </a:rPr>
              <a:t>steady</a:t>
            </a:r>
            <a:r>
              <a:rPr dirty="0" sz="1350" spc="-10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1C3B"/>
                </a:solidFill>
                <a:latin typeface="Arial"/>
                <a:cs typeface="Arial"/>
              </a:rPr>
              <a:t>progression </a:t>
            </a:r>
            <a:r>
              <a:rPr dirty="0" sz="1350">
                <a:solidFill>
                  <a:srgbClr val="1C2644"/>
                </a:solidFill>
                <a:latin typeface="Arial"/>
                <a:cs typeface="Arial"/>
              </a:rPr>
              <a:t>in</a:t>
            </a:r>
            <a:r>
              <a:rPr dirty="0" sz="1350" spc="-95">
                <a:solidFill>
                  <a:srgbClr val="1C2644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31D3B"/>
                </a:solidFill>
                <a:latin typeface="Arial"/>
                <a:cs typeface="Arial"/>
              </a:rPr>
              <a:t>that </a:t>
            </a:r>
            <a:r>
              <a:rPr dirty="0" sz="1450" spc="-20">
                <a:solidFill>
                  <a:srgbClr val="131C3B"/>
                </a:solidFill>
                <a:latin typeface="Arial"/>
                <a:cs typeface="Arial"/>
              </a:rPr>
              <a:t>band</a:t>
            </a:r>
            <a:endParaRPr sz="1450">
              <a:latin typeface="Arial"/>
              <a:cs typeface="Arial"/>
            </a:endParaRPr>
          </a:p>
          <a:p>
            <a:pPr marL="182245" marR="156210" indent="-156210">
              <a:lnSpc>
                <a:spcPct val="118200"/>
              </a:lnSpc>
              <a:spcBef>
                <a:spcPts val="310"/>
              </a:spcBef>
              <a:buClr>
                <a:srgbClr val="131C3D"/>
              </a:buClr>
              <a:buChar char="•"/>
              <a:tabLst>
                <a:tab pos="184785" algn="l"/>
              </a:tabLst>
            </a:pPr>
            <a:r>
              <a:rPr dirty="0" sz="1350" spc="-55">
                <a:solidFill>
                  <a:srgbClr val="131D3B"/>
                </a:solidFill>
                <a:latin typeface="Arial"/>
                <a:cs typeface="Arial"/>
              </a:rPr>
              <a:t>Early-</a:t>
            </a:r>
            <a:r>
              <a:rPr dirty="0" sz="1350" spc="-25">
                <a:solidFill>
                  <a:srgbClr val="131D3B"/>
                </a:solidFill>
                <a:latin typeface="Arial"/>
                <a:cs typeface="Arial"/>
              </a:rPr>
              <a:t>career</a:t>
            </a:r>
            <a:r>
              <a:rPr dirty="0" sz="1350" spc="8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1C3B"/>
                </a:solidFill>
                <a:latin typeface="Arial"/>
                <a:cs typeface="Arial"/>
              </a:rPr>
              <a:t>band</a:t>
            </a:r>
            <a:r>
              <a:rPr dirty="0" sz="135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 spc="-204">
                <a:solidFill>
                  <a:srgbClr val="131C3B"/>
                </a:solidFill>
                <a:latin typeface="Arial"/>
                <a:cs typeface="Arial"/>
              </a:rPr>
              <a:t>41—</a:t>
            </a:r>
            <a:r>
              <a:rPr dirty="0" sz="1350" spc="-110">
                <a:solidFill>
                  <a:srgbClr val="131C3B"/>
                </a:solidFill>
                <a:latin typeface="Arial"/>
                <a:cs typeface="Arial"/>
              </a:rPr>
              <a:t>50k</a:t>
            </a:r>
            <a:r>
              <a:rPr dirty="0" sz="1350" spc="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1C3B"/>
                </a:solidFill>
                <a:latin typeface="Arial"/>
                <a:cs typeface="Arial"/>
              </a:rPr>
              <a:t>splits</a:t>
            </a:r>
            <a:r>
              <a:rPr dirty="0" sz="1350" spc="-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1C3B"/>
                </a:solidFill>
                <a:latin typeface="Arial"/>
                <a:cs typeface="Arial"/>
              </a:rPr>
              <a:t>into</a:t>
            </a:r>
            <a:r>
              <a:rPr dirty="0" sz="1350" spc="-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31C3B"/>
                </a:solidFill>
                <a:latin typeface="Arial"/>
                <a:cs typeface="Arial"/>
              </a:rPr>
              <a:t>mid- </a:t>
            </a:r>
            <a:r>
              <a:rPr dirty="0" sz="1350" spc="-2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300">
                <a:solidFill>
                  <a:srgbClr val="131C3A"/>
                </a:solidFill>
                <a:latin typeface="Arial"/>
                <a:cs typeface="Arial"/>
              </a:rPr>
              <a:t>career</a:t>
            </a:r>
            <a:r>
              <a:rPr dirty="0" sz="1300" spc="5">
                <a:solidFill>
                  <a:srgbClr val="131C3A"/>
                </a:solidFill>
                <a:latin typeface="Arial"/>
                <a:cs typeface="Arial"/>
              </a:rPr>
              <a:t> </a:t>
            </a:r>
            <a:r>
              <a:rPr dirty="0" sz="1300" spc="-155">
                <a:solidFill>
                  <a:srgbClr val="131C3B"/>
                </a:solidFill>
                <a:latin typeface="Arial"/>
                <a:cs typeface="Arial"/>
              </a:rPr>
              <a:t>91—</a:t>
            </a:r>
            <a:r>
              <a:rPr dirty="0" sz="1300" spc="-95">
                <a:solidFill>
                  <a:srgbClr val="131C3B"/>
                </a:solidFill>
                <a:latin typeface="Arial"/>
                <a:cs typeface="Arial"/>
              </a:rPr>
              <a:t>110k</a:t>
            </a:r>
            <a:r>
              <a:rPr dirty="0" sz="1300" spc="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131C3B"/>
                </a:solidFill>
                <a:latin typeface="Arial"/>
                <a:cs typeface="Arial"/>
              </a:rPr>
              <a:t>(195)</a:t>
            </a:r>
            <a:r>
              <a:rPr dirty="0" sz="13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61C3B"/>
                </a:solidFill>
                <a:latin typeface="Arial"/>
                <a:cs typeface="Arial"/>
              </a:rPr>
              <a:t>and</a:t>
            </a:r>
            <a:r>
              <a:rPr dirty="0" sz="1300" spc="-70">
                <a:solidFill>
                  <a:srgbClr val="161C3B"/>
                </a:solidFill>
                <a:latin typeface="Arial"/>
                <a:cs typeface="Arial"/>
              </a:rPr>
              <a:t> </a:t>
            </a:r>
            <a:r>
              <a:rPr dirty="0" sz="1300" spc="-130">
                <a:solidFill>
                  <a:srgbClr val="131C3B"/>
                </a:solidFill>
                <a:latin typeface="Arial"/>
                <a:cs typeface="Arial"/>
              </a:rPr>
              <a:t>111—</a:t>
            </a:r>
            <a:r>
              <a:rPr dirty="0" sz="1300" spc="-65">
                <a:solidFill>
                  <a:srgbClr val="131C3B"/>
                </a:solidFill>
                <a:latin typeface="Arial"/>
                <a:cs typeface="Arial"/>
              </a:rPr>
              <a:t>130k</a:t>
            </a:r>
            <a:r>
              <a:rPr dirty="0" sz="1300" spc="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31C3A"/>
                </a:solidFill>
                <a:latin typeface="Arial"/>
                <a:cs typeface="Arial"/>
              </a:rPr>
              <a:t>(145), </a:t>
            </a:r>
            <a:r>
              <a:rPr dirty="0" sz="1300" spc="-10">
                <a:solidFill>
                  <a:srgbClr val="131C3A"/>
                </a:solidFill>
                <a:latin typeface="Arial"/>
                <a:cs typeface="Arial"/>
              </a:rPr>
              <a:t>	</a:t>
            </a:r>
            <a:r>
              <a:rPr dirty="0" sz="1400" spc="-20">
                <a:solidFill>
                  <a:srgbClr val="151D3D"/>
                </a:solidFill>
                <a:latin typeface="Arial"/>
                <a:cs typeface="Arial"/>
              </a:rPr>
              <a:t>reflecting</a:t>
            </a:r>
            <a:r>
              <a:rPr dirty="0" sz="1400" spc="65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differentiated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1C3B"/>
                </a:solidFill>
                <a:latin typeface="Arial"/>
                <a:cs typeface="Arial"/>
              </a:rPr>
              <a:t>career</a:t>
            </a:r>
            <a:r>
              <a:rPr dirty="0" sz="1400" spc="3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D"/>
                </a:solidFill>
                <a:latin typeface="Arial"/>
                <a:cs typeface="Arial"/>
              </a:rPr>
              <a:t>trajectories </a:t>
            </a:r>
            <a:r>
              <a:rPr dirty="0" sz="1400" spc="-25">
                <a:solidFill>
                  <a:srgbClr val="131C3D"/>
                </a:solidFill>
                <a:latin typeface="Arial"/>
                <a:cs typeface="Arial"/>
              </a:rPr>
              <a:t>	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within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D3B"/>
                </a:solidFill>
                <a:latin typeface="Arial"/>
                <a:cs typeface="Arial"/>
              </a:rPr>
              <a:t>the</a:t>
            </a:r>
            <a:r>
              <a:rPr dirty="0" sz="1400" spc="-85">
                <a:solidFill>
                  <a:srgbClr val="131D3B"/>
                </a:solidFill>
                <a:latin typeface="Arial"/>
                <a:cs typeface="Arial"/>
              </a:rPr>
              <a:t> 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same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starting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 range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34907" y="1958519"/>
            <a:ext cx="2488565" cy="353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Salary</a:t>
            </a:r>
            <a:r>
              <a:rPr dirty="0" spc="-114"/>
              <a:t> </a:t>
            </a:r>
            <a:r>
              <a:rPr dirty="0" spc="-65">
                <a:solidFill>
                  <a:srgbClr val="131D3B"/>
                </a:solidFill>
              </a:rPr>
              <a:t>Band</a:t>
            </a:r>
            <a:r>
              <a:rPr dirty="0" spc="-105">
                <a:solidFill>
                  <a:srgbClr val="131D3B"/>
                </a:solidFill>
              </a:rPr>
              <a:t> </a:t>
            </a:r>
            <a:r>
              <a:rPr dirty="0" spc="-75"/>
              <a:t>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586" y="3052780"/>
            <a:ext cx="150467" cy="94579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49889" y="2871622"/>
            <a:ext cx="3496945" cy="179641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0655" marR="53340" indent="-148590">
              <a:lnSpc>
                <a:spcPct val="117900"/>
              </a:lnSpc>
              <a:spcBef>
                <a:spcPts val="125"/>
              </a:spcBef>
              <a:buChar char="•"/>
              <a:tabLst>
                <a:tab pos="160655" algn="l"/>
                <a:tab pos="167005" algn="l"/>
              </a:tabLst>
            </a:pP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114">
                <a:solidFill>
                  <a:srgbClr val="131C3B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1C3B"/>
                </a:solidFill>
                <a:latin typeface="Arial"/>
                <a:cs typeface="Arial"/>
              </a:rPr>
              <a:t>“Political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B"/>
                </a:solidFill>
                <a:latin typeface="Arial"/>
                <a:cs typeface="Arial"/>
              </a:rPr>
              <a:t>Environment”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D3B"/>
                </a:solidFill>
                <a:latin typeface="Arial"/>
                <a:cs typeface="Arial"/>
              </a:rPr>
              <a:t>overwhelmingly </a:t>
            </a:r>
            <a:r>
              <a:rPr dirty="0" sz="1350" spc="-130">
                <a:solidFill>
                  <a:srgbClr val="131C3B"/>
                </a:solidFill>
                <a:latin typeface="OCR A Extended"/>
                <a:cs typeface="OCR A Extended"/>
              </a:rPr>
              <a:t>dominates</a:t>
            </a:r>
            <a:r>
              <a:rPr dirty="0" sz="1350" spc="-415">
                <a:solidFill>
                  <a:srgbClr val="131C3B"/>
                </a:solidFill>
                <a:latin typeface="OCR A Extended"/>
                <a:cs typeface="OCR A Extended"/>
              </a:rPr>
              <a:t> </a:t>
            </a:r>
            <a:r>
              <a:rPr dirty="0" sz="1350" spc="-130">
                <a:solidFill>
                  <a:srgbClr val="131C3B"/>
                </a:solidFill>
                <a:latin typeface="OCR A Extended"/>
                <a:cs typeface="OCR A Extended"/>
              </a:rPr>
              <a:t>as</a:t>
            </a:r>
            <a:r>
              <a:rPr dirty="0" sz="1350" spc="-560">
                <a:solidFill>
                  <a:srgbClr val="131C3B"/>
                </a:solidFill>
                <a:latin typeface="OCR A Extended"/>
                <a:cs typeface="OCR A Extended"/>
              </a:rPr>
              <a:t> </a:t>
            </a:r>
            <a:r>
              <a:rPr dirty="0" sz="1350" spc="-160">
                <a:solidFill>
                  <a:srgbClr val="131C3A"/>
                </a:solidFill>
                <a:latin typeface="OCR A Extended"/>
                <a:cs typeface="OCR A Extended"/>
              </a:rPr>
              <a:t>the</a:t>
            </a:r>
            <a:r>
              <a:rPr dirty="0" sz="1350" spc="-530">
                <a:solidFill>
                  <a:srgbClr val="131C3A"/>
                </a:solidFill>
                <a:latin typeface="OCR A Extended"/>
                <a:cs typeface="OCR A Extended"/>
              </a:rPr>
              <a:t> </a:t>
            </a:r>
            <a:r>
              <a:rPr dirty="0" sz="1350" spc="-130">
                <a:solidFill>
                  <a:srgbClr val="131C3B"/>
                </a:solidFill>
                <a:latin typeface="OCR A Extended"/>
                <a:cs typeface="OCR A Extended"/>
              </a:rPr>
              <a:t>top</a:t>
            </a:r>
            <a:r>
              <a:rPr dirty="0" sz="1350" spc="-580">
                <a:solidFill>
                  <a:srgbClr val="131C3B"/>
                </a:solidFill>
                <a:latin typeface="OCR A Extended"/>
                <a:cs typeface="OCR A Extended"/>
              </a:rPr>
              <a:t> </a:t>
            </a:r>
            <a:r>
              <a:rPr dirty="0" sz="1350" spc="-254">
                <a:solidFill>
                  <a:srgbClr val="1C2644"/>
                </a:solidFill>
                <a:latin typeface="OCR A Extended"/>
                <a:cs typeface="OCR A Extended"/>
              </a:rPr>
              <a:t>frustration</a:t>
            </a:r>
            <a:r>
              <a:rPr dirty="0" sz="1350" spc="-315">
                <a:solidFill>
                  <a:srgbClr val="1C2644"/>
                </a:solidFill>
                <a:latin typeface="OCR A Extended"/>
                <a:cs typeface="OCR A Extended"/>
              </a:rPr>
              <a:t> </a:t>
            </a:r>
            <a:r>
              <a:rPr dirty="0" sz="1350" spc="-65">
                <a:solidFill>
                  <a:srgbClr val="131C3B"/>
                </a:solidFill>
                <a:latin typeface="OCR A Extended"/>
                <a:cs typeface="OCR A Extended"/>
              </a:rPr>
              <a:t>factor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(96.4%)</a:t>
            </a:r>
            <a:endParaRPr sz="1400">
              <a:latin typeface="Arial"/>
              <a:cs typeface="Arial"/>
            </a:endParaRPr>
          </a:p>
          <a:p>
            <a:pPr marL="168910" marR="5080" indent="-156845">
              <a:lnSpc>
                <a:spcPct val="114999"/>
              </a:lnSpc>
              <a:spcBef>
                <a:spcPts val="310"/>
              </a:spcBef>
              <a:buChar char="•"/>
              <a:tabLst>
                <a:tab pos="168910" algn="l"/>
                <a:tab pos="171450" algn="l"/>
              </a:tabLst>
            </a:pP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	</a:t>
            </a:r>
            <a:r>
              <a:rPr dirty="0" sz="1400" spc="-55">
                <a:solidFill>
                  <a:srgbClr val="131C3B"/>
                </a:solidFill>
                <a:latin typeface="Arial"/>
                <a:cs typeface="Arial"/>
              </a:rPr>
              <a:t>All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other</a:t>
            </a:r>
            <a:r>
              <a:rPr dirty="0" sz="1400" spc="-6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factors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 combined</a:t>
            </a:r>
            <a:r>
              <a:rPr dirty="0" sz="1400" spc="-2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represent</a:t>
            </a:r>
            <a:r>
              <a:rPr dirty="0" sz="1400" spc="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1D3B"/>
                </a:solidFill>
                <a:latin typeface="Arial"/>
                <a:cs typeface="Arial"/>
              </a:rPr>
              <a:t>less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than</a:t>
            </a:r>
            <a:r>
              <a:rPr dirty="0" sz="1400" spc="-7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80">
                <a:solidFill>
                  <a:srgbClr val="131C3D"/>
                </a:solidFill>
                <a:latin typeface="Arial"/>
                <a:cs typeface="Arial"/>
              </a:rPr>
              <a:t>4%</a:t>
            </a:r>
            <a:r>
              <a:rPr dirty="0" sz="140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1C3B"/>
                </a:solidFill>
                <a:latin typeface="Arial"/>
                <a:cs typeface="Arial"/>
              </a:rPr>
              <a:t>of</a:t>
            </a:r>
            <a:r>
              <a:rPr dirty="0" sz="1400" spc="-7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reported</a:t>
            </a:r>
            <a:r>
              <a:rPr dirty="0" sz="1400" spc="-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frustrations,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1C3B"/>
                </a:solidFill>
                <a:latin typeface="Arial"/>
                <a:cs typeface="Arial"/>
              </a:rPr>
              <a:t>suggesting </a:t>
            </a:r>
            <a:r>
              <a:rPr dirty="0" sz="1400" spc="-160">
                <a:solidFill>
                  <a:srgbClr val="131C3B"/>
                </a:solidFill>
                <a:latin typeface="Arial"/>
                <a:cs typeface="Arial"/>
              </a:rPr>
              <a:t>a</a:t>
            </a:r>
            <a:r>
              <a:rPr dirty="0" sz="1400" spc="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1C3A"/>
                </a:solidFill>
                <a:latin typeface="Arial"/>
                <a:cs typeface="Arial"/>
              </a:rPr>
              <a:t>unanimous </a:t>
            </a:r>
            <a:r>
              <a:rPr dirty="0" sz="1400" spc="-40">
                <a:solidFill>
                  <a:srgbClr val="131C3B"/>
                </a:solidFill>
                <a:latin typeface="Arial"/>
                <a:cs typeface="Arial"/>
              </a:rPr>
              <a:t>concern</a:t>
            </a:r>
            <a:r>
              <a:rPr dirty="0" sz="14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1C3D"/>
                </a:solidFill>
                <a:latin typeface="Arial"/>
                <a:cs typeface="Arial"/>
              </a:rPr>
              <a:t>over</a:t>
            </a:r>
            <a:r>
              <a:rPr dirty="0" sz="1400" spc="-20">
                <a:solidFill>
                  <a:srgbClr val="131C3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1C3B"/>
                </a:solidFill>
                <a:latin typeface="Arial"/>
                <a:cs typeface="Arial"/>
              </a:rPr>
              <a:t>organizational politics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36330" y="2498590"/>
            <a:ext cx="3639820" cy="353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Frustration</a:t>
            </a:r>
            <a:r>
              <a:rPr dirty="0" spc="-50"/>
              <a:t> </a:t>
            </a:r>
            <a:r>
              <a:rPr dirty="0" spc="-70"/>
              <a:t>Factors</a:t>
            </a:r>
            <a:r>
              <a:rPr dirty="0" spc="-80"/>
              <a:t> </a:t>
            </a:r>
            <a:r>
              <a:rPr dirty="0" spc="-35"/>
              <a:t>Distribution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705756" y="2871849"/>
            <a:ext cx="1997710" cy="156781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15"/>
              </a:spcBef>
            </a:pPr>
            <a:r>
              <a:rPr dirty="0" sz="1100" spc="-55">
                <a:solidFill>
                  <a:srgbClr val="131C3B"/>
                </a:solidFill>
                <a:latin typeface="Arial"/>
                <a:cs typeface="Arial"/>
              </a:rPr>
              <a:t>Political</a:t>
            </a:r>
            <a:r>
              <a:rPr dirty="0" sz="1100" spc="-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31C3B"/>
                </a:solidFill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12700" marR="20955" indent="189865">
              <a:lnSpc>
                <a:spcPct val="131400"/>
              </a:lnSpc>
            </a:pPr>
            <a:r>
              <a:rPr dirty="0" sz="1100" spc="-70">
                <a:solidFill>
                  <a:srgbClr val="2D3450"/>
                </a:solidFill>
                <a:latin typeface="Arial"/>
                <a:cs typeface="Arial"/>
              </a:rPr>
              <a:t>Unclear</a:t>
            </a:r>
            <a:r>
              <a:rPr dirty="0" sz="1100" spc="-5">
                <a:solidFill>
                  <a:srgbClr val="2D3450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111C3B"/>
                </a:solidFill>
                <a:latin typeface="Arial"/>
                <a:cs typeface="Arial"/>
              </a:rPr>
              <a:t>work</a:t>
            </a:r>
            <a:r>
              <a:rPr dirty="0" sz="1100" spc="15">
                <a:solidFill>
                  <a:srgbClr val="111C3B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131C3B"/>
                </a:solidFill>
                <a:latin typeface="Arial"/>
                <a:cs typeface="Arial"/>
              </a:rPr>
              <a:t>without</a:t>
            </a:r>
            <a:r>
              <a:rPr dirty="0" sz="1100" spc="4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100" spc="-75">
                <a:solidFill>
                  <a:srgbClr val="414862"/>
                </a:solidFill>
                <a:latin typeface="Arial"/>
                <a:cs typeface="Arial"/>
              </a:rPr>
              <a:t>any</a:t>
            </a:r>
            <a:r>
              <a:rPr dirty="0" sz="1100" spc="-20">
                <a:solidFill>
                  <a:srgbClr val="414862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85899A"/>
                </a:solidFill>
                <a:latin typeface="Arial"/>
                <a:cs typeface="Arial"/>
              </a:rPr>
              <a:t>goals </a:t>
            </a:r>
            <a:r>
              <a:rPr dirty="0" sz="1100">
                <a:solidFill>
                  <a:srgbClr val="6B87FD"/>
                </a:solidFill>
                <a:latin typeface="Arial"/>
                <a:cs typeface="Arial"/>
              </a:rPr>
              <a:t>B</a:t>
            </a:r>
            <a:r>
              <a:rPr dirty="0" sz="1100" spc="420">
                <a:solidFill>
                  <a:srgbClr val="6B87FD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2D3450"/>
                </a:solidFill>
                <a:latin typeface="Arial"/>
                <a:cs typeface="Arial"/>
              </a:rPr>
              <a:t>Unsupportive</a:t>
            </a:r>
            <a:r>
              <a:rPr dirty="0" sz="1100" spc="80">
                <a:solidFill>
                  <a:srgbClr val="2D345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7E8093"/>
                </a:solidFill>
                <a:latin typeface="Arial"/>
                <a:cs typeface="Arial"/>
              </a:rPr>
              <a:t>Managers</a:t>
            </a:r>
            <a:endParaRPr sz="1100">
              <a:latin typeface="Arial"/>
              <a:cs typeface="Arial"/>
            </a:endParaRPr>
          </a:p>
          <a:p>
            <a:pPr marL="208279" marR="617220" indent="-161290">
              <a:lnSpc>
                <a:spcPct val="131400"/>
              </a:lnSpc>
            </a:pPr>
            <a:r>
              <a:rPr dirty="0" sz="1100">
                <a:solidFill>
                  <a:srgbClr val="753BEF"/>
                </a:solidFill>
                <a:latin typeface="Arial"/>
                <a:cs typeface="Arial"/>
              </a:rPr>
              <a:t>B</a:t>
            </a:r>
            <a:r>
              <a:rPr dirty="0" sz="1100" spc="185">
                <a:solidFill>
                  <a:srgbClr val="753BEF"/>
                </a:solidFill>
                <a:latin typeface="Arial"/>
                <a:cs typeface="Arial"/>
              </a:rPr>
              <a:t> </a:t>
            </a:r>
            <a:r>
              <a:rPr dirty="0" sz="1100" spc="-65">
                <a:solidFill>
                  <a:srgbClr val="131C3B"/>
                </a:solidFill>
                <a:latin typeface="Arial"/>
                <a:cs typeface="Arial"/>
              </a:rPr>
              <a:t>High</a:t>
            </a:r>
            <a:r>
              <a:rPr dirty="0" sz="1100" spc="-10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343B56"/>
                </a:solidFill>
                <a:latin typeface="Arial"/>
                <a:cs typeface="Arial"/>
              </a:rPr>
              <a:t>stressful</a:t>
            </a:r>
            <a:r>
              <a:rPr dirty="0" sz="1100" spc="15">
                <a:solidFill>
                  <a:srgbClr val="343B56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151D3D"/>
                </a:solidFill>
                <a:latin typeface="Arial"/>
                <a:cs typeface="Arial"/>
              </a:rPr>
              <a:t>job </a:t>
            </a:r>
            <a:r>
              <a:rPr dirty="0" sz="1100" spc="-125">
                <a:solidFill>
                  <a:srgbClr val="151D3D"/>
                </a:solidFill>
                <a:latin typeface="Arial"/>
                <a:cs typeface="Arial"/>
              </a:rPr>
              <a:t>Lack</a:t>
            </a:r>
            <a:r>
              <a:rPr dirty="0" sz="1100" spc="40">
                <a:solidFill>
                  <a:srgbClr val="151D3D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12848"/>
                </a:solidFill>
                <a:latin typeface="Arial"/>
                <a:cs typeface="Arial"/>
              </a:rPr>
              <a:t>of</a:t>
            </a:r>
            <a:r>
              <a:rPr dirty="0" sz="1100" spc="-50">
                <a:solidFill>
                  <a:srgbClr val="212848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313854"/>
                </a:solidFill>
                <a:latin typeface="Arial"/>
                <a:cs typeface="Arial"/>
              </a:rPr>
              <a:t>Transparency</a:t>
            </a:r>
            <a:endParaRPr sz="1100">
              <a:latin typeface="Arial"/>
              <a:cs typeface="Arial"/>
            </a:endParaRPr>
          </a:p>
          <a:p>
            <a:pPr marL="202565">
              <a:lnSpc>
                <a:spcPct val="100000"/>
              </a:lnSpc>
              <a:spcBef>
                <a:spcPts val="415"/>
              </a:spcBef>
            </a:pPr>
            <a:r>
              <a:rPr dirty="0" sz="1100" spc="-70">
                <a:solidFill>
                  <a:srgbClr val="2A3450"/>
                </a:solidFill>
                <a:latin typeface="Arial"/>
                <a:cs typeface="Arial"/>
              </a:rPr>
              <a:t>Unclear</a:t>
            </a:r>
            <a:r>
              <a:rPr dirty="0" sz="1100" spc="-5">
                <a:solidFill>
                  <a:srgbClr val="2A3450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131C3B"/>
                </a:solidFill>
                <a:latin typeface="Arial"/>
                <a:cs typeface="Arial"/>
              </a:rPr>
              <a:t>work</a:t>
            </a:r>
            <a:r>
              <a:rPr dirty="0" sz="1100" spc="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131D3B"/>
                </a:solidFill>
                <a:latin typeface="Arial"/>
                <a:cs typeface="Arial"/>
              </a:rPr>
              <a:t>with </a:t>
            </a:r>
            <a:r>
              <a:rPr dirty="0" sz="1100" spc="-190">
                <a:solidFill>
                  <a:srgbClr val="696E82"/>
                </a:solidFill>
                <a:latin typeface="Arial"/>
                <a:cs typeface="Arial"/>
              </a:rPr>
              <a:t>a</a:t>
            </a:r>
            <a:r>
              <a:rPr dirty="0" sz="1100" spc="25">
                <a:solidFill>
                  <a:srgbClr val="696E82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131C3B"/>
                </a:solidFill>
                <a:latin typeface="Arial"/>
                <a:cs typeface="Arial"/>
              </a:rPr>
              <a:t>goal</a:t>
            </a:r>
            <a:endParaRPr sz="1100">
              <a:latin typeface="Arial"/>
              <a:cs typeface="Arial"/>
            </a:endParaRPr>
          </a:p>
          <a:p>
            <a:pPr marL="204470" indent="-156845">
              <a:lnSpc>
                <a:spcPct val="100000"/>
              </a:lnSpc>
              <a:spcBef>
                <a:spcPts val="415"/>
              </a:spcBef>
              <a:buClr>
                <a:srgbClr val="2B8967"/>
              </a:buClr>
              <a:buChar char="■"/>
              <a:tabLst>
                <a:tab pos="204470" algn="l"/>
              </a:tabLst>
            </a:pPr>
            <a:r>
              <a:rPr dirty="0" sz="1100" spc="-45">
                <a:solidFill>
                  <a:srgbClr val="50566E"/>
                </a:solidFill>
                <a:latin typeface="Arial"/>
                <a:cs typeface="Arial"/>
              </a:rPr>
              <a:t>Often</a:t>
            </a:r>
            <a:r>
              <a:rPr dirty="0" sz="1100">
                <a:solidFill>
                  <a:srgbClr val="50566E"/>
                </a:solidFill>
                <a:latin typeface="Arial"/>
                <a:cs typeface="Arial"/>
              </a:rPr>
              <a:t> </a:t>
            </a:r>
            <a:r>
              <a:rPr dirty="0" sz="1100" spc="-190">
                <a:solidFill>
                  <a:srgbClr val="696E82"/>
                </a:solidFill>
                <a:latin typeface="Arial"/>
                <a:cs typeface="Arial"/>
              </a:rPr>
              <a:t>a</a:t>
            </a:r>
            <a:r>
              <a:rPr dirty="0" sz="1100" spc="30">
                <a:solidFill>
                  <a:srgbClr val="696E82"/>
                </a:solidFill>
                <a:latin typeface="Arial"/>
                <a:cs typeface="Arial"/>
              </a:rPr>
              <a:t> </a:t>
            </a:r>
            <a:r>
              <a:rPr dirty="0" sz="1100" spc="-85">
                <a:solidFill>
                  <a:srgbClr val="6B7083"/>
                </a:solidFill>
                <a:latin typeface="Arial"/>
                <a:cs typeface="Arial"/>
              </a:rPr>
              <a:t>need</a:t>
            </a:r>
            <a:r>
              <a:rPr dirty="0" sz="1100" spc="5">
                <a:solidFill>
                  <a:srgbClr val="6B708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85899A"/>
                </a:solidFill>
                <a:latin typeface="Arial"/>
                <a:cs typeface="Arial"/>
              </a:rPr>
              <a:t>to</a:t>
            </a:r>
            <a:r>
              <a:rPr dirty="0" sz="1100" spc="-65">
                <a:solidFill>
                  <a:srgbClr val="85899A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131C3B"/>
                </a:solidFill>
                <a:latin typeface="Arial"/>
                <a:cs typeface="Arial"/>
              </a:rPr>
              <a:t>learn</a:t>
            </a:r>
            <a:r>
              <a:rPr dirty="0" sz="1100" spc="1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100" spc="-120">
                <a:solidFill>
                  <a:srgbClr val="131C3B"/>
                </a:solidFill>
                <a:latin typeface="Arial"/>
                <a:cs typeface="Arial"/>
              </a:rPr>
              <a:t>New</a:t>
            </a:r>
            <a:r>
              <a:rPr dirty="0" sz="1100" spc="35">
                <a:solidFill>
                  <a:srgbClr val="131C3B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A314D"/>
                </a:solidFill>
                <a:latin typeface="Arial"/>
                <a:cs typeface="Arial"/>
              </a:rPr>
              <a:t>Skills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937470" y="4559310"/>
            <a:ext cx="3511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60">
                <a:solidFill>
                  <a:srgbClr val="161C3B"/>
                </a:solidFill>
                <a:latin typeface="Arial"/>
                <a:cs typeface="Arial"/>
              </a:rPr>
              <a:t>96.49t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2026-01-06T05:37:45Z</dcterms:created>
  <dcterms:modified xsi:type="dcterms:W3CDTF">2026-01-06T05:37:45Z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2026-01-06T00:00:00Z</vt:filetime>
  </property>
  <property fmtid="{D5CDD505-2E9C-101B-9397-08002B2CF9AE}" pid="3" name="LastSaved">
    <vt:filetime>2026-01-06T00:00:00Z</vt:filetime>
  </property>
  <property fmtid="{D5CDD505-2E9C-101B-9397-08002B2CF9AE}" pid="4" name="Producer">
    <vt:lpwstr>3-Heights(TM) PDF Security Shell 4.8.25.2 (http://www.pdf-tools.com)</vt:lpwstr>
  </property>
</Properties>
</file>